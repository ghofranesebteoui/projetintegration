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94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9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9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slides/slide91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9.xml" ContentType="application/vnd.openxmlformats-officedocument.presentationml.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slides/slide87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310" r:id="rId23"/>
    <p:sldId id="312" r:id="rId24"/>
    <p:sldId id="313" r:id="rId25"/>
    <p:sldId id="311" r:id="rId26"/>
    <p:sldId id="278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4" r:id="rId58"/>
    <p:sldId id="318" r:id="rId59"/>
    <p:sldId id="319" r:id="rId60"/>
    <p:sldId id="320" r:id="rId61"/>
    <p:sldId id="321" r:id="rId62"/>
    <p:sldId id="322" r:id="rId63"/>
    <p:sldId id="323" r:id="rId64"/>
    <p:sldId id="324" r:id="rId65"/>
    <p:sldId id="325" r:id="rId66"/>
    <p:sldId id="326" r:id="rId67"/>
    <p:sldId id="327" r:id="rId68"/>
    <p:sldId id="328" r:id="rId69"/>
    <p:sldId id="329" r:id="rId70"/>
    <p:sldId id="330" r:id="rId71"/>
    <p:sldId id="331" r:id="rId72"/>
    <p:sldId id="332" r:id="rId73"/>
    <p:sldId id="316" r:id="rId74"/>
    <p:sldId id="317" r:id="rId75"/>
    <p:sldId id="333" r:id="rId76"/>
    <p:sldId id="335" r:id="rId77"/>
    <p:sldId id="336" r:id="rId78"/>
    <p:sldId id="337" r:id="rId79"/>
    <p:sldId id="338" r:id="rId80"/>
    <p:sldId id="334" r:id="rId81"/>
    <p:sldId id="339" r:id="rId82"/>
    <p:sldId id="340" r:id="rId83"/>
    <p:sldId id="341" r:id="rId84"/>
    <p:sldId id="342" r:id="rId85"/>
    <p:sldId id="343" r:id="rId86"/>
    <p:sldId id="344" r:id="rId87"/>
    <p:sldId id="345" r:id="rId88"/>
    <p:sldId id="346" r:id="rId89"/>
    <p:sldId id="347" r:id="rId90"/>
    <p:sldId id="348" r:id="rId91"/>
    <p:sldId id="349" r:id="rId92"/>
    <p:sldId id="350" r:id="rId93"/>
    <p:sldId id="351" r:id="rId94"/>
    <p:sldId id="352" r:id="rId9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19" autoAdjust="0"/>
    <p:restoredTop sz="94624" autoAdjust="0"/>
  </p:normalViewPr>
  <p:slideViewPr>
    <p:cSldViewPr>
      <p:cViewPr>
        <p:scale>
          <a:sx n="80" d="100"/>
          <a:sy n="80" d="100"/>
        </p:scale>
        <p:origin x="-696" y="-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1634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97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66E6B7-DDE9-4519-93DC-58AD4FC354EF}" type="datetimeFigureOut">
              <a:rPr lang="fr-FR" smtClean="0"/>
              <a:pPr/>
              <a:t>24/10/2024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3E41B8-46B4-4169-9242-8CB4EE353E2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3E41B8-46B4-4169-9242-8CB4EE353E2E}" type="slidenum">
              <a:rPr lang="fr-FR" smtClean="0"/>
              <a:pPr/>
              <a:t>26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7" name="Sous-titr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30" name="Espace réservé de la date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FD852-19B6-41EE-9017-7D69D0EC7E14}" type="datetime1">
              <a:rPr lang="fr-FR" smtClean="0"/>
              <a:pPr/>
              <a:t>24/10/2024</a:t>
            </a:fld>
            <a:endParaRPr lang="fr-FR"/>
          </a:p>
        </p:txBody>
      </p:sp>
      <p:sp>
        <p:nvSpPr>
          <p:cNvPr id="19" name="Espace réservé du pied de page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7" name="Espace réservé du numéro de diapositiv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2F9F5-31AA-4294-AC18-5E203F15441F}" type="datetime1">
              <a:rPr lang="fr-FR" smtClean="0"/>
              <a:pPr/>
              <a:t>24/10/2024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86F5E-3B18-4C5C-AFAF-91AB1F55671C}" type="datetime1">
              <a:rPr lang="fr-FR" smtClean="0"/>
              <a:pPr/>
              <a:t>24/10/2024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1BE0-E4B5-4310-98FB-D88F08A55B9B}" type="datetime1">
              <a:rPr lang="fr-FR" smtClean="0"/>
              <a:pPr/>
              <a:t>24/10/2024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48288-17E9-4C60-B786-E4D0F85737A4}" type="datetime1">
              <a:rPr lang="fr-FR" smtClean="0"/>
              <a:pPr/>
              <a:t>24/10/2024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C8B91-1AA8-47EC-B3F6-124A3B5B4E14}" type="datetime1">
              <a:rPr lang="fr-FR" smtClean="0"/>
              <a:pPr/>
              <a:t>24/10/2024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EA50A-401D-4474-B946-DED5DB2C960B}" type="datetime1">
              <a:rPr lang="fr-FR" smtClean="0"/>
              <a:pPr/>
              <a:t>24/10/2024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E8F17-C5FC-4AE7-84C6-9E210961C45A}" type="datetime1">
              <a:rPr lang="fr-FR" smtClean="0"/>
              <a:pPr/>
              <a:t>24/10/2024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gner et arrondir un rectangle à un seul coin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Triangle rect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24A31-3117-45DC-86B9-6E57C6BF7B61}" type="datetime1">
              <a:rPr lang="fr-FR" smtClean="0"/>
              <a:pPr/>
              <a:t>24/10/2024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2ECC51C9-77A7-4A8E-946A-40AABA4923F9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  <p:sp>
        <p:nvSpPr>
          <p:cNvPr id="10" name="Forme libre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orme libre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FAEF6-88B8-4F40-AA47-90113F34D149}" type="datetime1">
              <a:rPr lang="fr-FR" smtClean="0"/>
              <a:pPr/>
              <a:t>24/10/2024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6E281-CCF5-466C-B9DE-C6DC718AB941}" type="datetime1">
              <a:rPr lang="fr-FR" smtClean="0"/>
              <a:pPr/>
              <a:t>24/10/2024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e libre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orme libre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space réservé du titre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0" name="Espace réservé du texte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A6F67764-650F-46DD-9BFC-2353A3BFE77C}" type="datetime1">
              <a:rPr lang="fr-FR" smtClean="0"/>
              <a:pPr/>
              <a:t>24/10/2024</a:t>
            </a:fld>
            <a:endParaRPr lang="fr-FR"/>
          </a:p>
        </p:txBody>
      </p:sp>
      <p:sp>
        <p:nvSpPr>
          <p:cNvPr id="22" name="Espace réservé du pied de page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18" name="Espace réservé du numéro de diapositive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2ECC51C9-77A7-4A8E-946A-40AABA4923F9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2" name="Groupe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orme libre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orme libre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openclassrooms.com/courses/structurez-vos-donnees-avec-xml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14282" y="0"/>
            <a:ext cx="8643998" cy="3600451"/>
          </a:xfrm>
        </p:spPr>
        <p:txBody>
          <a:bodyPr>
            <a:normAutofit/>
          </a:bodyPr>
          <a:lstStyle/>
          <a:p>
            <a:pPr algn="ctr"/>
            <a:r>
              <a:rPr lang="fr-FR" sz="2800" dirty="0" smtClean="0"/>
              <a:t>Support de cours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SOA</a:t>
            </a:r>
            <a:br>
              <a:rPr lang="fr-FR" dirty="0" smtClean="0"/>
            </a:br>
            <a:r>
              <a:rPr lang="fr-FR" dirty="0" smtClean="0"/>
              <a:t>Service </a:t>
            </a:r>
            <a:r>
              <a:rPr lang="fr-FR" dirty="0" err="1" smtClean="0"/>
              <a:t>Oriented</a:t>
            </a:r>
            <a:r>
              <a:rPr lang="fr-FR" dirty="0" smtClean="0"/>
              <a:t> Architecture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 smtClean="0"/>
          </a:p>
          <a:p>
            <a:endParaRPr lang="fr-FR" dirty="0" smtClean="0"/>
          </a:p>
          <a:p>
            <a:r>
              <a:rPr lang="fr-FR" dirty="0" smtClean="0"/>
              <a:t>Préparé par Mme Donia HICHRI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1</a:t>
            </a:fld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Objectifs du cours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3200" dirty="0" smtClean="0"/>
              <a:t>Comprendre le concept service et les principes de l’architecture SOA</a:t>
            </a:r>
          </a:p>
          <a:p>
            <a:r>
              <a:rPr lang="fr-FR" sz="3200" dirty="0" smtClean="0"/>
              <a:t>Comprendre l’intérêt de l’architecture SOA</a:t>
            </a:r>
          </a:p>
          <a:p>
            <a:r>
              <a:rPr lang="fr-FR" sz="3200" dirty="0" smtClean="0"/>
              <a:t>Comprendre le concept service Web et apprendre à utiliser ou interpréter les standards des services Web</a:t>
            </a:r>
          </a:p>
          <a:p>
            <a:r>
              <a:rPr lang="fr-FR" sz="3200" dirty="0" smtClean="0"/>
              <a:t> Maîtriser le développement de services Web par l’utilisation de l’API JAX-WS </a:t>
            </a:r>
            <a:endParaRPr lang="fr-FR" sz="32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2</a:t>
            </a:fld>
            <a:endParaRPr lang="fr-F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Plan du cours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3200" dirty="0" smtClean="0"/>
              <a:t>Le concept Service </a:t>
            </a:r>
          </a:p>
          <a:p>
            <a:r>
              <a:rPr lang="fr-FR" sz="3200" dirty="0" smtClean="0"/>
              <a:t>L’architecture SOA </a:t>
            </a:r>
          </a:p>
          <a:p>
            <a:r>
              <a:rPr lang="fr-FR" sz="3200" dirty="0" smtClean="0"/>
              <a:t>Le concept Service Web </a:t>
            </a:r>
          </a:p>
          <a:p>
            <a:r>
              <a:rPr lang="fr-FR" sz="3200" dirty="0" smtClean="0"/>
              <a:t>Les standards des services Web </a:t>
            </a:r>
          </a:p>
          <a:p>
            <a:r>
              <a:rPr lang="fr-FR" sz="3200" dirty="0" smtClean="0"/>
              <a:t>L’API JAX-Web </a:t>
            </a:r>
            <a:endParaRPr lang="fr-FR" sz="32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3</a:t>
            </a:fld>
            <a:endParaRPr lang="fr-F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b="1" dirty="0" smtClean="0">
                <a:solidFill>
                  <a:srgbClr val="FF0000"/>
                </a:solidFill>
              </a:rPr>
              <a:t>Chapitre 1  </a:t>
            </a:r>
            <a:r>
              <a:rPr lang="fr-FR" dirty="0" smtClean="0"/>
              <a:t>Le concept Service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3200" dirty="0" smtClean="0"/>
              <a:t>Evolution des paradigmes de développement </a:t>
            </a:r>
          </a:p>
          <a:p>
            <a:r>
              <a:rPr lang="fr-FR" sz="3200" dirty="0" smtClean="0"/>
              <a:t>Qu’est ce qu’un service? </a:t>
            </a:r>
          </a:p>
          <a:p>
            <a:r>
              <a:rPr lang="fr-FR" sz="3200" dirty="0" smtClean="0"/>
              <a:t>Orchestration des services </a:t>
            </a:r>
          </a:p>
          <a:p>
            <a:r>
              <a:rPr lang="fr-FR" sz="3200" dirty="0" smtClean="0"/>
              <a:t>Types de services</a:t>
            </a:r>
          </a:p>
          <a:p>
            <a:r>
              <a:rPr lang="fr-FR" sz="3200" dirty="0" smtClean="0"/>
              <a:t>Propriétés du service </a:t>
            </a:r>
            <a:endParaRPr lang="fr-FR" sz="32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4</a:t>
            </a:fld>
            <a:endParaRPr lang="fr-F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785794"/>
            <a:ext cx="8469219" cy="1103497"/>
          </a:xfrm>
        </p:spPr>
        <p:txBody>
          <a:bodyPr>
            <a:noAutofit/>
          </a:bodyPr>
          <a:lstStyle/>
          <a:p>
            <a:r>
              <a:rPr lang="fr-FR" sz="4800" dirty="0" smtClean="0"/>
              <a:t>Evolution des paradigmes de développement </a:t>
            </a:r>
            <a:endParaRPr lang="fr-FR" sz="48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La conception d’un programme informatique s’effectue conformément à un paradigme de développement (PD) </a:t>
            </a:r>
          </a:p>
          <a:p>
            <a:r>
              <a:rPr lang="fr-FR" dirty="0" smtClean="0"/>
              <a:t>Un PD définit un concept pour représenter le monde et des techniques pour traiter ce concept </a:t>
            </a:r>
          </a:p>
          <a:p>
            <a:r>
              <a:rPr lang="fr-FR" dirty="0" smtClean="0"/>
              <a:t>Différents PD ont vu le jour et ont évolué du binaire, à différents modèles de programmation puis à </a:t>
            </a:r>
            <a:r>
              <a:rPr lang="fr-FR" dirty="0" smtClean="0">
                <a:solidFill>
                  <a:srgbClr val="FF0000"/>
                </a:solidFill>
              </a:rPr>
              <a:t>l’architecture SOA</a:t>
            </a:r>
            <a:r>
              <a:rPr lang="fr-FR" dirty="0" smtClean="0"/>
              <a:t>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5</a:t>
            </a:fld>
            <a:endParaRPr lang="fr-F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786" y="2643182"/>
            <a:ext cx="4191000" cy="189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29190" y="1928802"/>
            <a:ext cx="2333625" cy="173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215206" y="1428736"/>
            <a:ext cx="1343025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785786" y="928670"/>
            <a:ext cx="7715304" cy="4000528"/>
          </a:xfrm>
          <a:prstGeom prst="rect">
            <a:avLst/>
          </a:prstGeom>
          <a:noFill/>
          <a:ln>
            <a:solidFill>
              <a:schemeClr val="tx2">
                <a:alpha val="52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6</a:t>
            </a:fld>
            <a:endParaRPr lang="fr-F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Concept Service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3600" dirty="0" smtClean="0"/>
              <a:t>Composant logiciel qui exécute une action pour le compte d’un client</a:t>
            </a:r>
          </a:p>
          <a:p>
            <a:r>
              <a:rPr lang="fr-FR" sz="3600" dirty="0" smtClean="0"/>
              <a:t>Il traduit le niveau logique d’accès aux traitements, plutôt que le niveau physique d’implémentation (EJB, </a:t>
            </a:r>
            <a:r>
              <a:rPr lang="fr-FR" sz="3600" dirty="0" err="1" smtClean="0"/>
              <a:t>Servlet</a:t>
            </a:r>
            <a:r>
              <a:rPr lang="fr-FR" sz="3600" dirty="0" smtClean="0"/>
              <a:t>…)</a:t>
            </a:r>
            <a:endParaRPr lang="fr-FR" sz="36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7</a:t>
            </a:fld>
            <a:endParaRPr lang="fr-F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Définition du Service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fr-FR" dirty="0" smtClean="0"/>
              <a:t>  </a:t>
            </a:r>
            <a:r>
              <a:rPr lang="fr-FR" b="1" dirty="0" smtClean="0"/>
              <a:t>Composant logiciel : </a:t>
            </a:r>
          </a:p>
          <a:p>
            <a:pPr lvl="1"/>
            <a:r>
              <a:rPr lang="fr-FR" dirty="0" smtClean="0">
                <a:solidFill>
                  <a:srgbClr val="FF0000"/>
                </a:solidFill>
              </a:rPr>
              <a:t>Mutualisé </a:t>
            </a:r>
            <a:r>
              <a:rPr lang="fr-FR" dirty="0" smtClean="0"/>
              <a:t>(partagé puisqu’il est réutilisable et interopérable) </a:t>
            </a:r>
          </a:p>
          <a:p>
            <a:pPr lvl="1"/>
            <a:r>
              <a:rPr lang="fr-FR" dirty="0" smtClean="0">
                <a:solidFill>
                  <a:srgbClr val="FF0000"/>
                </a:solidFill>
              </a:rPr>
              <a:t>Référencé </a:t>
            </a:r>
            <a:r>
              <a:rPr lang="fr-FR" dirty="0" smtClean="0"/>
              <a:t>dans un annuaire (où il est identifié)</a:t>
            </a:r>
          </a:p>
          <a:p>
            <a:pPr lvl="1"/>
            <a:r>
              <a:rPr lang="fr-FR" dirty="0" smtClean="0">
                <a:solidFill>
                  <a:srgbClr val="FF0000"/>
                </a:solidFill>
              </a:rPr>
              <a:t>Normalisé</a:t>
            </a:r>
            <a:r>
              <a:rPr lang="fr-FR" dirty="0" smtClean="0"/>
              <a:t> (toutes ses fonctions sont appelés de la même façon via des paramètres, conformément à un contrat) </a:t>
            </a:r>
          </a:p>
          <a:p>
            <a:pPr lvl="1"/>
            <a:r>
              <a:rPr lang="fr-FR" dirty="0" smtClean="0"/>
              <a:t>Décrit par une </a:t>
            </a:r>
            <a:r>
              <a:rPr lang="fr-FR" dirty="0" smtClean="0">
                <a:solidFill>
                  <a:srgbClr val="FF0000"/>
                </a:solidFill>
              </a:rPr>
              <a:t>interface d’appel </a:t>
            </a:r>
            <a:r>
              <a:rPr lang="fr-FR" dirty="0" smtClean="0"/>
              <a:t>(par un langage indépendant des technologies) </a:t>
            </a:r>
          </a:p>
          <a:p>
            <a:pPr lvl="1"/>
            <a:r>
              <a:rPr lang="fr-FR" dirty="0" smtClean="0"/>
              <a:t>Communicant avec le client par le biais de </a:t>
            </a:r>
            <a:r>
              <a:rPr lang="fr-FR" dirty="0" smtClean="0">
                <a:solidFill>
                  <a:srgbClr val="FF0000"/>
                </a:solidFill>
              </a:rPr>
              <a:t>messages </a:t>
            </a:r>
            <a:r>
              <a:rPr lang="fr-FR" dirty="0" smtClean="0"/>
              <a:t>(E/S)</a:t>
            </a:r>
          </a:p>
          <a:p>
            <a:pPr lvl="1"/>
            <a:r>
              <a:rPr lang="fr-FR" dirty="0" smtClean="0">
                <a:solidFill>
                  <a:srgbClr val="FF0000"/>
                </a:solidFill>
              </a:rPr>
              <a:t>Neutre</a:t>
            </a:r>
            <a:r>
              <a:rPr lang="fr-FR" dirty="0" smtClean="0"/>
              <a:t> (son utilisation est indépendante de son implémentation ou évolution tant que le contrat est respecté)</a:t>
            </a:r>
          </a:p>
          <a:p>
            <a:pPr lvl="1"/>
            <a:r>
              <a:rPr lang="fr-FR" dirty="0" smtClean="0">
                <a:solidFill>
                  <a:srgbClr val="FF0000"/>
                </a:solidFill>
              </a:rPr>
              <a:t>Couplage faible </a:t>
            </a:r>
            <a:r>
              <a:rPr lang="fr-FR" dirty="0" smtClean="0"/>
              <a:t>: interface isole le client du service </a:t>
            </a:r>
          </a:p>
          <a:p>
            <a:pPr lvl="1"/>
            <a:r>
              <a:rPr lang="fr-FR" dirty="0" smtClean="0">
                <a:solidFill>
                  <a:srgbClr val="FF0000"/>
                </a:solidFill>
              </a:rPr>
              <a:t>Déployé</a:t>
            </a:r>
            <a:r>
              <a:rPr lang="fr-FR" dirty="0" smtClean="0"/>
              <a:t> (physiquement) sur un s</a:t>
            </a:r>
            <a:r>
              <a:rPr lang="fr-FR" dirty="0" smtClean="0">
                <a:solidFill>
                  <a:srgbClr val="FF0000"/>
                </a:solidFill>
              </a:rPr>
              <a:t>erveur 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8</a:t>
            </a:fld>
            <a:endParaRPr lang="fr-F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Orchestration des services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Les services peuvent être composés (agrégés) dans le but de réaliser un processus donné </a:t>
            </a:r>
          </a:p>
          <a:p>
            <a:r>
              <a:rPr lang="fr-FR" dirty="0" smtClean="0"/>
              <a:t>L’orchestration leur permet de </a:t>
            </a:r>
            <a:r>
              <a:rPr lang="fr-FR" dirty="0" smtClean="0">
                <a:solidFill>
                  <a:srgbClr val="FF0000"/>
                </a:solidFill>
              </a:rPr>
              <a:t>communiquer sans avoir à se connaître</a:t>
            </a:r>
            <a:r>
              <a:rPr lang="fr-FR" dirty="0" smtClean="0"/>
              <a:t> pour préserver leur couplage lâche (leur indépendance) </a:t>
            </a:r>
          </a:p>
          <a:p>
            <a:r>
              <a:rPr lang="fr-FR" dirty="0" smtClean="0">
                <a:solidFill>
                  <a:srgbClr val="FF0000"/>
                </a:solidFill>
              </a:rPr>
              <a:t>Un moteur d’orchestration se charge d’appeler les services </a:t>
            </a:r>
            <a:r>
              <a:rPr lang="fr-FR" dirty="0" smtClean="0"/>
              <a:t>selon l’enchaînement désiré</a:t>
            </a:r>
          </a:p>
          <a:p>
            <a:endParaRPr lang="fr-FR" dirty="0" smtClean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9</a:t>
            </a:fld>
            <a:endParaRPr lang="fr-F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Orchestration des services</a:t>
            </a:r>
            <a:endParaRPr lang="fr-FR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728" y="2714620"/>
            <a:ext cx="6362700" cy="2628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10</a:t>
            </a:fld>
            <a:endParaRPr lang="fr-F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Propriétés des services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Réutilisables</a:t>
            </a:r>
            <a:r>
              <a:rPr lang="fr-FR" dirty="0" smtClean="0"/>
              <a:t> et possèdent des contrats standardisés</a:t>
            </a:r>
          </a:p>
          <a:p>
            <a:r>
              <a:rPr lang="fr-FR" dirty="0" smtClean="0"/>
              <a:t>Communiquent par </a:t>
            </a:r>
            <a:r>
              <a:rPr lang="fr-FR" dirty="0" smtClean="0">
                <a:solidFill>
                  <a:srgbClr val="FF0000"/>
                </a:solidFill>
              </a:rPr>
              <a:t>messages</a:t>
            </a:r>
            <a:r>
              <a:rPr lang="fr-FR" dirty="0" smtClean="0"/>
              <a:t> à travers des </a:t>
            </a:r>
            <a:r>
              <a:rPr lang="fr-FR" dirty="0" smtClean="0">
                <a:solidFill>
                  <a:srgbClr val="FF0000"/>
                </a:solidFill>
              </a:rPr>
              <a:t>interfaces adressables</a:t>
            </a:r>
          </a:p>
          <a:p>
            <a:r>
              <a:rPr lang="fr-FR" dirty="0" smtClean="0">
                <a:solidFill>
                  <a:srgbClr val="FF0000"/>
                </a:solidFill>
              </a:rPr>
              <a:t>Abstraits et prédictibles</a:t>
            </a:r>
          </a:p>
          <a:p>
            <a:r>
              <a:rPr lang="fr-FR" dirty="0" smtClean="0">
                <a:solidFill>
                  <a:srgbClr val="FF0000"/>
                </a:solidFill>
              </a:rPr>
              <a:t>Modulaires</a:t>
            </a:r>
            <a:r>
              <a:rPr lang="fr-FR" dirty="0" smtClean="0"/>
              <a:t> et de </a:t>
            </a:r>
            <a:r>
              <a:rPr lang="fr-FR" dirty="0" smtClean="0">
                <a:solidFill>
                  <a:srgbClr val="FF0000"/>
                </a:solidFill>
              </a:rPr>
              <a:t>large granularité </a:t>
            </a:r>
          </a:p>
          <a:p>
            <a:r>
              <a:rPr lang="fr-FR" dirty="0" smtClean="0">
                <a:solidFill>
                  <a:srgbClr val="FF0000"/>
                </a:solidFill>
              </a:rPr>
              <a:t>Autonomes</a:t>
            </a:r>
            <a:r>
              <a:rPr lang="fr-FR" dirty="0" smtClean="0"/>
              <a:t> et </a:t>
            </a:r>
            <a:r>
              <a:rPr lang="fr-FR" dirty="0" smtClean="0">
                <a:solidFill>
                  <a:srgbClr val="FF0000"/>
                </a:solidFill>
              </a:rPr>
              <a:t>sans état </a:t>
            </a:r>
            <a:r>
              <a:rPr lang="fr-FR" dirty="0" smtClean="0"/>
              <a:t>(</a:t>
            </a:r>
            <a:r>
              <a:rPr lang="fr-FR" dirty="0" err="1" smtClean="0"/>
              <a:t>stateless</a:t>
            </a:r>
            <a:r>
              <a:rPr lang="fr-FR" dirty="0" smtClean="0"/>
              <a:t>)</a:t>
            </a:r>
          </a:p>
          <a:p>
            <a:r>
              <a:rPr lang="fr-FR" dirty="0" smtClean="0"/>
              <a:t>Moyens pour assurer une haute </a:t>
            </a:r>
            <a:r>
              <a:rPr lang="fr-FR" dirty="0" smtClean="0">
                <a:solidFill>
                  <a:srgbClr val="FF0000"/>
                </a:solidFill>
              </a:rPr>
              <a:t>Interopérabilité</a:t>
            </a:r>
          </a:p>
          <a:p>
            <a:r>
              <a:rPr lang="fr-FR" dirty="0" smtClean="0">
                <a:solidFill>
                  <a:srgbClr val="FF0000"/>
                </a:solidFill>
              </a:rPr>
              <a:t>Faiblement Couplés </a:t>
            </a:r>
          </a:p>
          <a:p>
            <a:r>
              <a:rPr lang="fr-FR" dirty="0" smtClean="0">
                <a:solidFill>
                  <a:srgbClr val="FF0000"/>
                </a:solidFill>
              </a:rPr>
              <a:t>Découvrables</a:t>
            </a:r>
            <a:r>
              <a:rPr lang="fr-FR" dirty="0" smtClean="0"/>
              <a:t> (dynamiquement) </a:t>
            </a:r>
          </a:p>
          <a:p>
            <a:r>
              <a:rPr lang="fr-FR" dirty="0" smtClean="0">
                <a:solidFill>
                  <a:srgbClr val="FF0000"/>
                </a:solidFill>
              </a:rPr>
              <a:t>Composables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11</a:t>
            </a:fld>
            <a:endParaRPr lang="fr-F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Réutilisabilité par contrat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fr-FR" dirty="0" smtClean="0"/>
              <a:t>Le service est réutilisable conformément à un contrat entre le fournisseur et le consommateur</a:t>
            </a:r>
          </a:p>
          <a:p>
            <a:r>
              <a:rPr lang="fr-FR" dirty="0" smtClean="0"/>
              <a:t>Le </a:t>
            </a:r>
            <a:r>
              <a:rPr lang="fr-FR" dirty="0" smtClean="0">
                <a:solidFill>
                  <a:srgbClr val="FF0000"/>
                </a:solidFill>
              </a:rPr>
              <a:t>contrat </a:t>
            </a:r>
            <a:r>
              <a:rPr lang="fr-FR" dirty="0" smtClean="0"/>
              <a:t>décrit : </a:t>
            </a:r>
          </a:p>
          <a:p>
            <a:pPr lvl="1"/>
            <a:r>
              <a:rPr lang="fr-FR" dirty="0" smtClean="0"/>
              <a:t>La </a:t>
            </a:r>
            <a:r>
              <a:rPr lang="fr-FR" dirty="0" smtClean="0">
                <a:solidFill>
                  <a:srgbClr val="00B050"/>
                </a:solidFill>
              </a:rPr>
              <a:t>syntaxe du service </a:t>
            </a:r>
            <a:r>
              <a:rPr lang="fr-FR" dirty="0" smtClean="0"/>
              <a:t>: opération, input, output, format, protocole… </a:t>
            </a:r>
          </a:p>
          <a:p>
            <a:pPr lvl="1"/>
            <a:r>
              <a:rPr lang="fr-FR" dirty="0" smtClean="0"/>
              <a:t>La </a:t>
            </a:r>
            <a:r>
              <a:rPr lang="fr-FR" dirty="0" smtClean="0">
                <a:solidFill>
                  <a:srgbClr val="00B050"/>
                </a:solidFill>
              </a:rPr>
              <a:t>sémantique</a:t>
            </a:r>
            <a:r>
              <a:rPr lang="fr-FR" dirty="0" smtClean="0"/>
              <a:t> de son utilisation: pré-conditions, post-conditions… </a:t>
            </a:r>
          </a:p>
          <a:p>
            <a:pPr lvl="1"/>
            <a:r>
              <a:rPr lang="fr-FR" dirty="0" smtClean="0"/>
              <a:t>Sa </a:t>
            </a:r>
            <a:r>
              <a:rPr lang="fr-FR" dirty="0" smtClean="0">
                <a:solidFill>
                  <a:srgbClr val="00B050"/>
                </a:solidFill>
              </a:rPr>
              <a:t>QOS</a:t>
            </a:r>
            <a:r>
              <a:rPr lang="fr-FR" dirty="0" smtClean="0"/>
              <a:t> : temps de réponse attendu, temps de reprise après interruption…</a:t>
            </a:r>
          </a:p>
          <a:p>
            <a:r>
              <a:rPr lang="fr-FR" dirty="0" smtClean="0"/>
              <a:t>Le contrat est généralement décrit au moyen du standard </a:t>
            </a:r>
            <a:r>
              <a:rPr lang="fr-FR" dirty="0" smtClean="0">
                <a:solidFill>
                  <a:srgbClr val="FF0000"/>
                </a:solidFill>
              </a:rPr>
              <a:t>WSDL</a:t>
            </a:r>
          </a:p>
          <a:p>
            <a:r>
              <a:rPr lang="fr-FR" dirty="0" smtClean="0"/>
              <a:t>Plusieurs contrats peuvent être définis pour répondre aux besoins différents des consommateurs (ex : service avec haute disponibilité/disponibilité normale) </a:t>
            </a:r>
          </a:p>
          <a:p>
            <a:r>
              <a:rPr lang="fr-FR" dirty="0" smtClean="0"/>
              <a:t>Le contrat est utilisé au design-time (génération de code) et au </a:t>
            </a:r>
            <a:r>
              <a:rPr lang="fr-FR" dirty="0" err="1" smtClean="0"/>
              <a:t>run</a:t>
            </a:r>
            <a:r>
              <a:rPr lang="fr-FR" dirty="0" smtClean="0"/>
              <a:t>-time (contrôle du respect du contrat)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12</a:t>
            </a:fld>
            <a:endParaRPr lang="fr-F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Interface adressable et communication par message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fr-FR" dirty="0" smtClean="0"/>
              <a:t>Chaque consommateur peut invoquer un service via son </a:t>
            </a:r>
            <a:r>
              <a:rPr lang="fr-FR" dirty="0" smtClean="0">
                <a:solidFill>
                  <a:srgbClr val="FF0000"/>
                </a:solidFill>
              </a:rPr>
              <a:t>adresse dans le réseau </a:t>
            </a:r>
            <a:r>
              <a:rPr lang="fr-FR" dirty="0" smtClean="0"/>
              <a:t>à n’importe quel moment </a:t>
            </a:r>
          </a:p>
          <a:p>
            <a:pPr lvl="1"/>
            <a:r>
              <a:rPr lang="fr-FR" dirty="0" smtClean="0"/>
              <a:t> Le consommateur peut accéder localement au service pour augmenter la performance, s’ils sont hébergés dans la même machine</a:t>
            </a:r>
          </a:p>
          <a:p>
            <a:r>
              <a:rPr lang="fr-FR" dirty="0" smtClean="0"/>
              <a:t>Les services communiquent </a:t>
            </a:r>
            <a:r>
              <a:rPr lang="fr-FR" dirty="0" smtClean="0">
                <a:solidFill>
                  <a:srgbClr val="FF0000"/>
                </a:solidFill>
              </a:rPr>
              <a:t>uniquement par messages </a:t>
            </a:r>
          </a:p>
          <a:p>
            <a:pPr lvl="1"/>
            <a:r>
              <a:rPr lang="fr-FR" dirty="0" smtClean="0"/>
              <a:t>Appels via le réseau vu que les services sont distribués en SOA </a:t>
            </a:r>
          </a:p>
          <a:p>
            <a:r>
              <a:rPr lang="fr-FR" dirty="0" smtClean="0"/>
              <a:t>Pour augmenter </a:t>
            </a:r>
            <a:r>
              <a:rPr lang="fr-FR" dirty="0" smtClean="0">
                <a:solidFill>
                  <a:srgbClr val="FF0000"/>
                </a:solidFill>
              </a:rPr>
              <a:t>la performance</a:t>
            </a:r>
            <a:r>
              <a:rPr lang="fr-FR" dirty="0" smtClean="0"/>
              <a:t>, les concepteurs doivent penser à </a:t>
            </a:r>
            <a:r>
              <a:rPr lang="fr-FR" dirty="0" smtClean="0">
                <a:solidFill>
                  <a:srgbClr val="FF0000"/>
                </a:solidFill>
              </a:rPr>
              <a:t>augmenter la granularité des interfaces </a:t>
            </a:r>
            <a:r>
              <a:rPr lang="fr-FR" dirty="0" smtClean="0"/>
              <a:t>de services pour diminuer le nombre d’appels réseau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13</a:t>
            </a:fld>
            <a:endParaRPr lang="fr-F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Abstraction et Prédictibilité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Le service fonctionne en «</a:t>
            </a:r>
            <a:r>
              <a:rPr lang="fr-FR" dirty="0" smtClean="0">
                <a:solidFill>
                  <a:srgbClr val="FF0000"/>
                </a:solidFill>
              </a:rPr>
              <a:t> boîte noire </a:t>
            </a:r>
            <a:r>
              <a:rPr lang="fr-FR" dirty="0" smtClean="0"/>
              <a:t>»</a:t>
            </a:r>
          </a:p>
          <a:p>
            <a:pPr lvl="1"/>
            <a:r>
              <a:rPr lang="fr-FR" dirty="0" smtClean="0"/>
              <a:t> Seul le contrat du service (informations nécessaires pour l’invocation) est exposé au consommateur du service</a:t>
            </a:r>
          </a:p>
          <a:p>
            <a:pPr lvl="1"/>
            <a:r>
              <a:rPr lang="fr-FR" dirty="0" smtClean="0"/>
              <a:t> le </a:t>
            </a:r>
            <a:r>
              <a:rPr lang="fr-FR" dirty="0" smtClean="0">
                <a:solidFill>
                  <a:srgbClr val="FF0000"/>
                </a:solidFill>
              </a:rPr>
              <a:t>fonctionnement interne </a:t>
            </a:r>
            <a:r>
              <a:rPr lang="fr-FR" dirty="0" smtClean="0"/>
              <a:t>du service (sa logique métier et son implémentation) ne sont </a:t>
            </a:r>
            <a:r>
              <a:rPr lang="fr-FR" dirty="0" smtClean="0">
                <a:solidFill>
                  <a:srgbClr val="FF0000"/>
                </a:solidFill>
              </a:rPr>
              <a:t>pas visibles </a:t>
            </a:r>
          </a:p>
          <a:p>
            <a:r>
              <a:rPr lang="fr-FR" dirty="0" smtClean="0"/>
              <a:t> Il est </a:t>
            </a:r>
            <a:r>
              <a:rPr lang="fr-FR" dirty="0" smtClean="0">
                <a:solidFill>
                  <a:srgbClr val="FF0000"/>
                </a:solidFill>
              </a:rPr>
              <a:t>Prédictible</a:t>
            </a:r>
          </a:p>
          <a:p>
            <a:pPr lvl="1"/>
            <a:r>
              <a:rPr lang="fr-FR" dirty="0" smtClean="0"/>
              <a:t> Son comportement et sa réponse lors de la réception d’une requête </a:t>
            </a:r>
            <a:r>
              <a:rPr lang="fr-FR" dirty="0" smtClean="0">
                <a:solidFill>
                  <a:srgbClr val="FF0000"/>
                </a:solidFill>
              </a:rPr>
              <a:t>ne varient pas 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14</a:t>
            </a:fld>
            <a:endParaRPr lang="fr-F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Large granularité et modularité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>
                <a:solidFill>
                  <a:srgbClr val="FF0000"/>
                </a:solidFill>
              </a:rPr>
              <a:t>Large granularité </a:t>
            </a:r>
            <a:r>
              <a:rPr lang="fr-FR" dirty="0" smtClean="0"/>
              <a:t>: Le service est un </a:t>
            </a:r>
            <a:r>
              <a:rPr lang="fr-FR" dirty="0" smtClean="0">
                <a:solidFill>
                  <a:srgbClr val="00B050"/>
                </a:solidFill>
              </a:rPr>
              <a:t>gros grain </a:t>
            </a:r>
            <a:r>
              <a:rPr lang="fr-FR" dirty="0" smtClean="0"/>
              <a:t>qui regroupe un </a:t>
            </a:r>
            <a:r>
              <a:rPr lang="fr-FR" dirty="0" smtClean="0">
                <a:solidFill>
                  <a:srgbClr val="00B050"/>
                </a:solidFill>
              </a:rPr>
              <a:t>ensemble d’interfaces cohérentes </a:t>
            </a:r>
            <a:r>
              <a:rPr lang="fr-FR" dirty="0" smtClean="0"/>
              <a:t>se rapportant à un même module fonctionnel </a:t>
            </a:r>
          </a:p>
          <a:p>
            <a:pPr lvl="1"/>
            <a:r>
              <a:rPr lang="fr-FR" dirty="0" smtClean="0"/>
              <a:t>Principe à respecter lors de la conception</a:t>
            </a:r>
          </a:p>
          <a:p>
            <a:r>
              <a:rPr lang="fr-FR" dirty="0" smtClean="0">
                <a:solidFill>
                  <a:srgbClr val="FF0000"/>
                </a:solidFill>
              </a:rPr>
              <a:t>Modularité</a:t>
            </a:r>
            <a:r>
              <a:rPr lang="fr-FR" dirty="0" smtClean="0"/>
              <a:t> : Il peut être </a:t>
            </a:r>
            <a:r>
              <a:rPr lang="fr-FR" dirty="0" smtClean="0">
                <a:solidFill>
                  <a:srgbClr val="00B050"/>
                </a:solidFill>
              </a:rPr>
              <a:t>déployé de façon atomique </a:t>
            </a:r>
            <a:r>
              <a:rPr lang="fr-FR" dirty="0" smtClean="0"/>
              <a:t>bien avant le développement ou déploiement d’applications consommatrices </a:t>
            </a:r>
          </a:p>
          <a:p>
            <a:pPr lvl="1"/>
            <a:r>
              <a:rPr lang="fr-FR" dirty="0" smtClean="0"/>
              <a:t> Principe différent du principe du paradigme OO où un programme OO est une unité indivisible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15</a:t>
            </a:fld>
            <a:endParaRPr lang="fr-F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Autonomie et </a:t>
            </a:r>
            <a:r>
              <a:rPr lang="fr-FR" dirty="0" err="1" smtClean="0"/>
              <a:t>statelessness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Autonomie</a:t>
            </a:r>
            <a:r>
              <a:rPr lang="fr-FR" dirty="0" smtClean="0"/>
              <a:t> : </a:t>
            </a:r>
          </a:p>
          <a:p>
            <a:pPr lvl="1"/>
            <a:r>
              <a:rPr lang="fr-FR" dirty="0" smtClean="0"/>
              <a:t>Le service est </a:t>
            </a:r>
            <a:r>
              <a:rPr lang="fr-FR" dirty="0" smtClean="0">
                <a:solidFill>
                  <a:srgbClr val="00B050"/>
                </a:solidFill>
              </a:rPr>
              <a:t>Indépendant des services externes </a:t>
            </a:r>
            <a:r>
              <a:rPr lang="fr-FR" dirty="0" smtClean="0"/>
              <a:t>: son comportement est indépendant du contexte fonctionnel et technique dans lequel il a été invoqué </a:t>
            </a:r>
          </a:p>
          <a:p>
            <a:r>
              <a:rPr lang="fr-FR" dirty="0" err="1" smtClean="0">
                <a:solidFill>
                  <a:srgbClr val="FF0000"/>
                </a:solidFill>
              </a:rPr>
              <a:t>Statelessness</a:t>
            </a:r>
            <a:r>
              <a:rPr lang="fr-FR" dirty="0" smtClean="0"/>
              <a:t> : Il est </a:t>
            </a:r>
            <a:r>
              <a:rPr lang="fr-FR" dirty="0" smtClean="0">
                <a:solidFill>
                  <a:srgbClr val="00B050"/>
                </a:solidFill>
              </a:rPr>
              <a:t>sans état </a:t>
            </a:r>
            <a:r>
              <a:rPr lang="fr-FR" dirty="0" smtClean="0"/>
              <a:t>(</a:t>
            </a:r>
            <a:r>
              <a:rPr lang="fr-FR" dirty="0" err="1" smtClean="0"/>
              <a:t>stateless</a:t>
            </a:r>
            <a:r>
              <a:rPr lang="fr-FR" dirty="0" smtClean="0"/>
              <a:t>) c à d il n’intègre pas la gestion de contexte (puisqu’il est autonome)</a:t>
            </a:r>
          </a:p>
          <a:p>
            <a:pPr lvl="1"/>
            <a:r>
              <a:rPr lang="fr-FR" dirty="0" smtClean="0"/>
              <a:t>But : Ne pas compliquer la </a:t>
            </a:r>
            <a:r>
              <a:rPr lang="fr-FR" dirty="0" smtClean="0">
                <a:solidFill>
                  <a:srgbClr val="00B050"/>
                </a:solidFill>
              </a:rPr>
              <a:t>maintenance</a:t>
            </a:r>
            <a:r>
              <a:rPr lang="fr-FR" dirty="0" smtClean="0"/>
              <a:t>, </a:t>
            </a:r>
            <a:r>
              <a:rPr lang="fr-FR" dirty="0" smtClean="0">
                <a:solidFill>
                  <a:srgbClr val="00B050"/>
                </a:solidFill>
              </a:rPr>
              <a:t>préserver la réutilisabilité</a:t>
            </a:r>
            <a:r>
              <a:rPr lang="fr-FR" dirty="0" smtClean="0"/>
              <a:t> (Indépendance d’un enchaînement particulier) et assurer </a:t>
            </a:r>
            <a:r>
              <a:rPr lang="fr-FR" dirty="0" smtClean="0">
                <a:solidFill>
                  <a:srgbClr val="00B050"/>
                </a:solidFill>
              </a:rPr>
              <a:t>la performance </a:t>
            </a:r>
            <a:r>
              <a:rPr lang="fr-FR" dirty="0" smtClean="0"/>
              <a:t>(minimiser la consommation de ressources systèmes, utilisées pour le stockage d’états)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16</a:t>
            </a:fld>
            <a:endParaRPr lang="fr-F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Interopérabilité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Possibilité de communiquer avec un système hétérogène</a:t>
            </a:r>
          </a:p>
          <a:p>
            <a:r>
              <a:rPr lang="fr-FR" dirty="0" smtClean="0"/>
              <a:t> Le service précise </a:t>
            </a:r>
            <a:r>
              <a:rPr lang="fr-FR" dirty="0" smtClean="0">
                <a:solidFill>
                  <a:srgbClr val="00B050"/>
                </a:solidFill>
              </a:rPr>
              <a:t>un type de connecteur </a:t>
            </a:r>
            <a:r>
              <a:rPr lang="fr-FR" dirty="0" smtClean="0"/>
              <a:t>(c à d protocole et format de données) que ses clients potentiels doivent utiliser pour pouvoir invoquer l’interface qu’il fournit </a:t>
            </a:r>
          </a:p>
          <a:p>
            <a:r>
              <a:rPr lang="fr-FR" dirty="0" smtClean="0"/>
              <a:t>Une </a:t>
            </a:r>
            <a:r>
              <a:rPr lang="fr-FR" dirty="0" smtClean="0">
                <a:solidFill>
                  <a:srgbClr val="00B050"/>
                </a:solidFill>
              </a:rPr>
              <a:t>spécification de médiation </a:t>
            </a:r>
            <a:r>
              <a:rPr lang="fr-FR" dirty="0" smtClean="0"/>
              <a:t>permettra de réaliser le </a:t>
            </a:r>
            <a:r>
              <a:rPr lang="fr-FR" dirty="0" err="1" smtClean="0"/>
              <a:t>mapping</a:t>
            </a:r>
            <a:r>
              <a:rPr lang="fr-FR" dirty="0" smtClean="0"/>
              <a:t> au cas où le client adopte un format et types de données hétérogènes </a:t>
            </a:r>
          </a:p>
          <a:p>
            <a:pPr lvl="1"/>
            <a:r>
              <a:rPr lang="fr-FR" dirty="0" smtClean="0"/>
              <a:t> </a:t>
            </a:r>
            <a:r>
              <a:rPr lang="fr-FR" dirty="0" err="1" smtClean="0"/>
              <a:t>Mapping</a:t>
            </a:r>
            <a:r>
              <a:rPr lang="fr-FR" dirty="0" smtClean="0"/>
              <a:t> entre deux jeux de caractères comme l'ASCII et EBCDIC, et </a:t>
            </a:r>
            <a:r>
              <a:rPr lang="fr-FR" dirty="0" err="1" smtClean="0"/>
              <a:t>mapping</a:t>
            </a:r>
            <a:r>
              <a:rPr lang="fr-FR" dirty="0" smtClean="0"/>
              <a:t> de types de données </a:t>
            </a:r>
          </a:p>
          <a:p>
            <a:pPr lvl="1"/>
            <a:r>
              <a:rPr lang="fr-FR" dirty="0" smtClean="0"/>
              <a:t>Exemples de spécification de médiation : Les API JAX-RPC et JAXM pour le </a:t>
            </a:r>
            <a:r>
              <a:rPr lang="fr-FR" dirty="0" err="1" smtClean="0"/>
              <a:t>mapping</a:t>
            </a:r>
            <a:r>
              <a:rPr lang="fr-FR" dirty="0" smtClean="0"/>
              <a:t> des types de données Java aux types de données SOAP et XML dans le cas d’un service Web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17</a:t>
            </a:fld>
            <a:endParaRPr lang="fr-F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Couplage faible (lâche)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Dépendance faible entre le consommateur et le service</a:t>
            </a:r>
          </a:p>
          <a:p>
            <a:pPr lvl="1"/>
            <a:r>
              <a:rPr lang="fr-FR" dirty="0" smtClean="0">
                <a:solidFill>
                  <a:srgbClr val="00B050"/>
                </a:solidFill>
              </a:rPr>
              <a:t>Dépendance du contrat </a:t>
            </a:r>
            <a:r>
              <a:rPr lang="fr-FR" dirty="0" smtClean="0"/>
              <a:t>et non pas de l’implémentation </a:t>
            </a:r>
          </a:p>
          <a:p>
            <a:pPr lvl="1"/>
            <a:r>
              <a:rPr lang="fr-FR" dirty="0" smtClean="0"/>
              <a:t>Echange à travers des </a:t>
            </a:r>
            <a:r>
              <a:rPr lang="fr-FR" dirty="0" smtClean="0">
                <a:solidFill>
                  <a:srgbClr val="00B050"/>
                </a:solidFill>
              </a:rPr>
              <a:t>messages </a:t>
            </a:r>
          </a:p>
          <a:p>
            <a:pPr lvl="1"/>
            <a:r>
              <a:rPr lang="fr-FR" dirty="0" smtClean="0">
                <a:solidFill>
                  <a:srgbClr val="00B050"/>
                </a:solidFill>
              </a:rPr>
              <a:t>Orchestration </a:t>
            </a:r>
            <a:r>
              <a:rPr lang="fr-FR" dirty="0" smtClean="0"/>
              <a:t>assure l’indépendance des services vu qu’elle leur permet de communiquer pour réaliser un processus, sans avoir à se connaître </a:t>
            </a:r>
          </a:p>
          <a:p>
            <a:r>
              <a:rPr lang="fr-FR" dirty="0" smtClean="0"/>
              <a:t>Avantage : </a:t>
            </a:r>
            <a:r>
              <a:rPr lang="fr-FR" dirty="0" smtClean="0">
                <a:solidFill>
                  <a:srgbClr val="00B050"/>
                </a:solidFill>
              </a:rPr>
              <a:t>Maintenance facile </a:t>
            </a:r>
          </a:p>
          <a:p>
            <a:pPr lvl="1"/>
            <a:r>
              <a:rPr lang="fr-FR" dirty="0" smtClean="0"/>
              <a:t>un changement dans le service suscite peu de changements dans ses consommateurs (juste ceux relatifs au respect du contrat)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18</a:t>
            </a:fld>
            <a:endParaRPr lang="fr-F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Découvrabilité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Il est </a:t>
            </a:r>
            <a:r>
              <a:rPr lang="fr-FR" dirty="0" smtClean="0">
                <a:solidFill>
                  <a:srgbClr val="FF0000"/>
                </a:solidFill>
              </a:rPr>
              <a:t>publié</a:t>
            </a:r>
            <a:r>
              <a:rPr lang="fr-FR" dirty="0" smtClean="0"/>
              <a:t> par le fournisseur dans un annuaire : décrit par un ensemble de métadonnées qui permettent de l’identifier et qu’il est possible de </a:t>
            </a:r>
            <a:r>
              <a:rPr lang="fr-FR" dirty="0" err="1" smtClean="0"/>
              <a:t>màj</a:t>
            </a:r>
            <a:endParaRPr lang="fr-FR" dirty="0" smtClean="0"/>
          </a:p>
          <a:p>
            <a:r>
              <a:rPr lang="fr-FR" dirty="0" smtClean="0"/>
              <a:t>Le consommateur peut </a:t>
            </a:r>
            <a:r>
              <a:rPr lang="fr-FR" dirty="0" smtClean="0">
                <a:solidFill>
                  <a:srgbClr val="FF0000"/>
                </a:solidFill>
              </a:rPr>
              <a:t>chercher</a:t>
            </a:r>
            <a:r>
              <a:rPr lang="fr-FR" dirty="0" smtClean="0"/>
              <a:t> un service selon un ensemble de critères à partir de l’annuaire : </a:t>
            </a:r>
          </a:p>
          <a:p>
            <a:pPr lvl="1"/>
            <a:r>
              <a:rPr lang="fr-FR" dirty="0" smtClean="0"/>
              <a:t>L’annuaire renvoie au consommateur la liste des services (adresses, frais…) qui répondent à sa requête </a:t>
            </a:r>
          </a:p>
          <a:p>
            <a:pPr lvl="1"/>
            <a:r>
              <a:rPr lang="fr-FR" dirty="0" smtClean="0"/>
              <a:t>Tous les arguments nécessaires à l’exécution du service sélectionné (opérations, paramètres…) sont accessibles à partir de son contrat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19</a:t>
            </a:fld>
            <a:endParaRPr lang="fr-F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Composabilité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Un service peut </a:t>
            </a:r>
            <a:r>
              <a:rPr lang="fr-FR" dirty="0" smtClean="0">
                <a:solidFill>
                  <a:srgbClr val="FF0000"/>
                </a:solidFill>
              </a:rPr>
              <a:t>participer à des compositions de services </a:t>
            </a:r>
          </a:p>
          <a:p>
            <a:pPr lvl="1"/>
            <a:r>
              <a:rPr lang="fr-FR" dirty="0" smtClean="0"/>
              <a:t>Un ensemble de services peuvent être composés à travers leur orchestration pour répondre à un besoin complexe</a:t>
            </a:r>
          </a:p>
          <a:p>
            <a:r>
              <a:rPr lang="fr-FR" dirty="0" smtClean="0"/>
              <a:t> Avantages : </a:t>
            </a:r>
          </a:p>
          <a:p>
            <a:pPr lvl="1"/>
            <a:r>
              <a:rPr lang="fr-FR" dirty="0" smtClean="0"/>
              <a:t>Apport de </a:t>
            </a:r>
            <a:r>
              <a:rPr lang="fr-FR" dirty="0" smtClean="0">
                <a:solidFill>
                  <a:srgbClr val="00B050"/>
                </a:solidFill>
              </a:rPr>
              <a:t>valeur ajoutée </a:t>
            </a:r>
            <a:r>
              <a:rPr lang="fr-FR" dirty="0" smtClean="0"/>
              <a:t>(répondre à un nouveau besoin complexe) </a:t>
            </a:r>
          </a:p>
          <a:p>
            <a:pPr lvl="1"/>
            <a:r>
              <a:rPr lang="fr-FR" dirty="0" smtClean="0"/>
              <a:t>Augmentation de la </a:t>
            </a:r>
            <a:r>
              <a:rPr lang="fr-FR" dirty="0" smtClean="0">
                <a:solidFill>
                  <a:srgbClr val="00B050"/>
                </a:solidFill>
              </a:rPr>
              <a:t>modularité</a:t>
            </a:r>
            <a:r>
              <a:rPr lang="fr-FR" dirty="0" smtClean="0"/>
              <a:t> : vu qu’un service complexe peut être décomposé en services simples pouvant être déployés chacun de façon atomique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20</a:t>
            </a:fld>
            <a:endParaRPr lang="fr-F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b="1" dirty="0" smtClean="0">
                <a:solidFill>
                  <a:srgbClr val="FF0000"/>
                </a:solidFill>
              </a:rPr>
              <a:t>Chapitre 2            </a:t>
            </a:r>
            <a:r>
              <a:rPr lang="fr-FR" dirty="0" smtClean="0"/>
              <a:t>Architecture SOA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800" dirty="0" smtClean="0"/>
              <a:t>Motivations et Enjeux</a:t>
            </a:r>
          </a:p>
          <a:p>
            <a:r>
              <a:rPr lang="fr-FR" sz="2800" dirty="0" smtClean="0"/>
              <a:t>Définition et Fondamentaux</a:t>
            </a:r>
          </a:p>
          <a:p>
            <a:r>
              <a:rPr lang="fr-FR" sz="2800" dirty="0" smtClean="0"/>
              <a:t>Couches et Méthodes de conception</a:t>
            </a:r>
          </a:p>
          <a:p>
            <a:r>
              <a:rPr lang="fr-FR" sz="2800" dirty="0" smtClean="0"/>
              <a:t>Intégration et ESB </a:t>
            </a:r>
          </a:p>
          <a:p>
            <a:r>
              <a:rPr lang="fr-FR" sz="2800" dirty="0" smtClean="0"/>
              <a:t>SOA Vs Architectures classiques </a:t>
            </a:r>
          </a:p>
          <a:p>
            <a:r>
              <a:rPr lang="fr-FR" sz="2800" dirty="0" smtClean="0"/>
              <a:t>SOA et urbanisation </a:t>
            </a:r>
            <a:endParaRPr lang="fr-FR" sz="28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21</a:t>
            </a:fld>
            <a:endParaRPr lang="fr-F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SOA:</a:t>
            </a:r>
            <a:br>
              <a:rPr lang="fr-FR" dirty="0" smtClean="0"/>
            </a:br>
            <a:r>
              <a:rPr lang="fr-FR" dirty="0" smtClean="0"/>
              <a:t>Motivation et enjeux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fr-FR" dirty="0" smtClean="0"/>
              <a:t>Dans une architecture répartie:</a:t>
            </a:r>
          </a:p>
          <a:p>
            <a:r>
              <a:rPr lang="fr-FR" dirty="0" smtClean="0"/>
              <a:t>Besoins d’intégrer au SI de l’entreprise de plus en plus de logiciels externes à forte valeur ajoutée</a:t>
            </a:r>
          </a:p>
          <a:p>
            <a:pPr>
              <a:buNone/>
            </a:pPr>
            <a:r>
              <a:rPr lang="fr-FR" dirty="0" smtClean="0">
                <a:solidFill>
                  <a:srgbClr val="FF0000"/>
                </a:solidFill>
              </a:rPr>
              <a:t>Exemple:</a:t>
            </a:r>
          </a:p>
          <a:p>
            <a:pPr>
              <a:buNone/>
            </a:pPr>
            <a:r>
              <a:rPr lang="fr-FR" dirty="0" smtClean="0"/>
              <a:t>Une entreprises de vente de matériels informatiques souhaite:</a:t>
            </a:r>
          </a:p>
          <a:p>
            <a:pPr lvl="1"/>
            <a:r>
              <a:rPr lang="fr-FR" dirty="0" smtClean="0"/>
              <a:t>intégrer un ERP de gestion du service après vente (SAV),</a:t>
            </a:r>
          </a:p>
          <a:p>
            <a:pPr lvl="1"/>
            <a:r>
              <a:rPr lang="fr-FR" dirty="0" smtClean="0"/>
              <a:t>mettre en place un e-commerce grâce à un CMS (Content Management System) pour vendre les produits en ligne et profiter de l'essor de ce secteur,</a:t>
            </a:r>
          </a:p>
          <a:p>
            <a:pPr lvl="1"/>
            <a:r>
              <a:rPr lang="fr-FR" dirty="0" smtClean="0"/>
              <a:t>automatiser la gestion des commandes des clients professionnels (les grossistes) afin de rester dans la course face à une concurrence de plus en plus performante, rapide et informatisée.</a:t>
            </a:r>
          </a:p>
          <a:p>
            <a:pPr lvl="2"/>
            <a:endParaRPr lang="fr-FR" dirty="0" smtClean="0"/>
          </a:p>
          <a:p>
            <a:pPr>
              <a:buNone/>
            </a:pPr>
            <a:r>
              <a:rPr lang="fr-FR" dirty="0" smtClean="0">
                <a:solidFill>
                  <a:srgbClr val="FF0000"/>
                </a:solidFill>
              </a:rPr>
              <a:t>Besoins</a:t>
            </a:r>
          </a:p>
          <a:p>
            <a:pPr>
              <a:buNone/>
            </a:pPr>
            <a:r>
              <a:rPr lang="fr-FR" dirty="0" smtClean="0"/>
              <a:t>    Chacun de ces systèmes à ajouter avait besoin d’un </a:t>
            </a:r>
            <a:r>
              <a:rPr lang="fr-FR" dirty="0" smtClean="0">
                <a:solidFill>
                  <a:srgbClr val="00B050"/>
                </a:solidFill>
              </a:rPr>
              <a:t>environnement adapté </a:t>
            </a:r>
            <a:r>
              <a:rPr lang="fr-FR" dirty="0" smtClean="0"/>
              <a:t>: système d’exploitation, capacité de stockage et de calcul, configuration spécifique (ports, </a:t>
            </a:r>
            <a:r>
              <a:rPr lang="fr-FR" dirty="0" err="1" smtClean="0"/>
              <a:t>par-feu</a:t>
            </a:r>
            <a:r>
              <a:rPr lang="fr-FR" dirty="0" smtClean="0"/>
              <a:t>, etc.) =&gt; </a:t>
            </a:r>
            <a:r>
              <a:rPr lang="fr-FR" b="1" dirty="0" smtClean="0"/>
              <a:t>comment faire communiquer tous ces différents systèmes ?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22</a:t>
            </a:fld>
            <a:endParaRPr lang="fr-F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SOA:</a:t>
            </a:r>
            <a:br>
              <a:rPr lang="fr-FR" dirty="0" smtClean="0"/>
            </a:br>
            <a:r>
              <a:rPr lang="fr-FR" dirty="0" smtClean="0"/>
              <a:t>Motivation et enjeux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fr-FR" dirty="0" smtClean="0">
                <a:solidFill>
                  <a:srgbClr val="FF0000"/>
                </a:solidFill>
              </a:rPr>
              <a:t>Solution</a:t>
            </a:r>
          </a:p>
          <a:p>
            <a:r>
              <a:rPr lang="fr-FR" sz="2000" dirty="0" smtClean="0"/>
              <a:t>Chaque logiciel dans le SI doit avoir un adaptateur pour communiquer avec un autre.</a:t>
            </a:r>
            <a:endParaRPr lang="fr-FR" sz="2000" dirty="0"/>
          </a:p>
        </p:txBody>
      </p:sp>
      <p:sp>
        <p:nvSpPr>
          <p:cNvPr id="4" name="Flèche courbée vers la droite 3"/>
          <p:cNvSpPr/>
          <p:nvPr/>
        </p:nvSpPr>
        <p:spPr>
          <a:xfrm>
            <a:off x="571472" y="2928934"/>
            <a:ext cx="142876" cy="50006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57224" y="3164681"/>
            <a:ext cx="7715304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/>
              <a:t> à mesure que le système grandissait, on se retrouvait avec les problèmes suivants :</a:t>
            </a:r>
          </a:p>
          <a:p>
            <a:pPr>
              <a:buFont typeface="Arial" pitchFamily="34" charset="0"/>
              <a:buChar char="•"/>
            </a:pPr>
            <a:r>
              <a:rPr lang="fr-FR" dirty="0" smtClean="0"/>
              <a:t> Le </a:t>
            </a:r>
            <a:r>
              <a:rPr lang="fr-FR" dirty="0" smtClean="0">
                <a:solidFill>
                  <a:srgbClr val="00B050"/>
                </a:solidFill>
              </a:rPr>
              <a:t>système</a:t>
            </a:r>
            <a:r>
              <a:rPr lang="fr-FR" dirty="0" smtClean="0"/>
              <a:t> devenait trop </a:t>
            </a:r>
            <a:r>
              <a:rPr lang="fr-FR" dirty="0" smtClean="0">
                <a:solidFill>
                  <a:srgbClr val="00B050"/>
                </a:solidFill>
              </a:rPr>
              <a:t>complexe</a:t>
            </a:r>
            <a:r>
              <a:rPr lang="fr-FR" dirty="0" smtClean="0"/>
              <a:t> : chaque logiciel devait gérer des dizaines d’adaptateurs pour communiquer avec des dizaines d’autres logiciels, qui eux-mêmes disposaient d’autres adaptateurs.</a:t>
            </a:r>
          </a:p>
          <a:p>
            <a:r>
              <a:rPr lang="fr-FR" dirty="0" smtClean="0"/>
              <a:t> </a:t>
            </a:r>
            <a:r>
              <a:rPr lang="fr-FR" dirty="0" smtClean="0">
                <a:solidFill>
                  <a:srgbClr val="00B050"/>
                </a:solidFill>
              </a:rPr>
              <a:t>Flexibilité limitée </a:t>
            </a:r>
            <a:r>
              <a:rPr lang="fr-FR" dirty="0" smtClean="0"/>
              <a:t>: changer la moindre fonctionnalité dans un logiciel du SI impliquait des changements en cascade dans tout le SI : les adaptateurs à mettre à jour, un redéploiement de l’ensemble, etc.</a:t>
            </a:r>
          </a:p>
          <a:p>
            <a:pPr>
              <a:buFont typeface="Arial" pitchFamily="34" charset="0"/>
              <a:buChar char="•"/>
            </a:pPr>
            <a:r>
              <a:rPr lang="fr-FR" dirty="0" smtClean="0"/>
              <a:t> </a:t>
            </a:r>
            <a:r>
              <a:rPr lang="fr-FR" dirty="0" err="1" smtClean="0">
                <a:solidFill>
                  <a:srgbClr val="00B050"/>
                </a:solidFill>
              </a:rPr>
              <a:t>Scalabilité</a:t>
            </a:r>
            <a:r>
              <a:rPr lang="fr-FR" dirty="0" smtClean="0">
                <a:solidFill>
                  <a:srgbClr val="00B050"/>
                </a:solidFill>
              </a:rPr>
              <a:t> difficile</a:t>
            </a:r>
            <a:r>
              <a:rPr lang="fr-FR" dirty="0" smtClean="0"/>
              <a:t>.</a:t>
            </a:r>
          </a:p>
          <a:p>
            <a:pPr>
              <a:buFont typeface="Arial" pitchFamily="34" charset="0"/>
              <a:buChar char="•"/>
            </a:pPr>
            <a:r>
              <a:rPr lang="fr-FR" dirty="0" smtClean="0"/>
              <a:t> </a:t>
            </a:r>
            <a:r>
              <a:rPr lang="fr-FR" dirty="0" smtClean="0">
                <a:solidFill>
                  <a:srgbClr val="00B050"/>
                </a:solidFill>
              </a:rPr>
              <a:t>Coût de maintenance trop élevé </a:t>
            </a:r>
            <a:r>
              <a:rPr lang="fr-FR" dirty="0" smtClean="0"/>
              <a:t>dû à la complexité du système et à l'interdépendance forte entre les composants du SI.</a:t>
            </a:r>
          </a:p>
          <a:p>
            <a:r>
              <a:rPr lang="fr-FR" dirty="0" smtClean="0"/>
              <a:t/>
            </a:r>
            <a:br>
              <a:rPr lang="fr-FR" dirty="0" smtClean="0"/>
            </a:b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23</a:t>
            </a:fld>
            <a:endParaRPr lang="fr-F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SOA:</a:t>
            </a:r>
            <a:br>
              <a:rPr lang="fr-FR" dirty="0" smtClean="0"/>
            </a:br>
            <a:r>
              <a:rPr lang="fr-FR" dirty="0" smtClean="0"/>
              <a:t>Motivation et enjeux</a:t>
            </a:r>
            <a:endParaRPr lang="fr-FR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22440" y="1935163"/>
            <a:ext cx="5299119" cy="438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24</a:t>
            </a:fld>
            <a:endParaRPr lang="fr-F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La solution avec l’SOA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 smtClean="0"/>
              <a:t>Avec l’arrivée du </a:t>
            </a:r>
            <a:r>
              <a:rPr lang="fr-FR" u="sng" dirty="0" smtClean="0">
                <a:hlinkClick r:id="rId2"/>
              </a:rPr>
              <a:t>XML</a:t>
            </a:r>
            <a:r>
              <a:rPr lang="fr-FR" dirty="0" smtClean="0"/>
              <a:t>, </a:t>
            </a:r>
            <a:r>
              <a:rPr lang="fr-FR" dirty="0" smtClean="0">
                <a:solidFill>
                  <a:srgbClr val="FF0000"/>
                </a:solidFill>
              </a:rPr>
              <a:t>l'architecture orientée services </a:t>
            </a:r>
            <a:r>
              <a:rPr lang="fr-FR" dirty="0" smtClean="0"/>
              <a:t>a fait son apparition.</a:t>
            </a:r>
          </a:p>
          <a:p>
            <a:r>
              <a:rPr lang="fr-FR" dirty="0" smtClean="0"/>
              <a:t>Il s’agit organiser les SI de façon à ce qu’ils soient composés de briques indépendantes appelées </a:t>
            </a:r>
            <a:r>
              <a:rPr lang="fr-FR" b="1" dirty="0" smtClean="0">
                <a:solidFill>
                  <a:schemeClr val="accent4">
                    <a:lumMod val="50000"/>
                  </a:schemeClr>
                </a:solidFill>
              </a:rPr>
              <a:t>services</a:t>
            </a:r>
            <a:r>
              <a:rPr lang="fr-FR" dirty="0" smtClean="0"/>
              <a:t>. </a:t>
            </a:r>
          </a:p>
          <a:p>
            <a:r>
              <a:rPr lang="fr-FR" dirty="0" smtClean="0"/>
              <a:t>Chaque service a un nombre de fonctionnalités cohérentes et est indépendant des autres services.</a:t>
            </a:r>
          </a:p>
          <a:p>
            <a:r>
              <a:rPr lang="fr-FR" dirty="0" smtClean="0"/>
              <a:t>Ces services vont communiquer entre eux grâce à un protocole standard, connu et compris de tous. Le protocole qui s’est largement imposé est le</a:t>
            </a:r>
            <a:r>
              <a:rPr lang="fr-FR" dirty="0" smtClean="0">
                <a:solidFill>
                  <a:schemeClr val="accent4">
                    <a:lumMod val="50000"/>
                  </a:schemeClr>
                </a:solidFill>
              </a:rPr>
              <a:t> SOAP </a:t>
            </a:r>
            <a:r>
              <a:rPr lang="fr-FR" dirty="0" smtClean="0"/>
              <a:t>basé sur le </a:t>
            </a:r>
            <a:r>
              <a:rPr lang="fr-FR" dirty="0" smtClean="0">
                <a:solidFill>
                  <a:schemeClr val="accent4">
                    <a:lumMod val="50000"/>
                  </a:schemeClr>
                </a:solidFill>
              </a:rPr>
              <a:t>XML</a:t>
            </a:r>
            <a:r>
              <a:rPr lang="fr-FR" smtClean="0"/>
              <a:t>. </a:t>
            </a:r>
            <a:endParaRPr lang="fr-FR" dirty="0" smtClean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25</a:t>
            </a:fld>
            <a:endParaRPr lang="fr-F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Pourquoi une architecture SOA?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 smtClean="0"/>
              <a:t>Architecture où le traitement des données des applications est distribué sur plusieurs machines en réseau </a:t>
            </a:r>
          </a:p>
          <a:p>
            <a:pPr lvl="3"/>
            <a:r>
              <a:rPr lang="fr-FR" dirty="0" smtClean="0"/>
              <a:t>Exemples : Architectures client-serveur, N-Tiers, Web </a:t>
            </a:r>
          </a:p>
          <a:p>
            <a:r>
              <a:rPr lang="fr-FR" dirty="0" smtClean="0"/>
              <a:t>Limites dues à leurs technologies de base : </a:t>
            </a:r>
          </a:p>
          <a:p>
            <a:pPr lvl="1"/>
            <a:r>
              <a:rPr lang="fr-FR" dirty="0" smtClean="0"/>
              <a:t>Utilisation de composants provenant d’un </a:t>
            </a:r>
            <a:r>
              <a:rPr lang="fr-FR" dirty="0" smtClean="0">
                <a:solidFill>
                  <a:srgbClr val="FF0000"/>
                </a:solidFill>
              </a:rPr>
              <a:t>même constructeur</a:t>
            </a:r>
            <a:r>
              <a:rPr lang="fr-FR" dirty="0" smtClean="0"/>
              <a:t>, </a:t>
            </a:r>
          </a:p>
          <a:p>
            <a:pPr lvl="1"/>
            <a:r>
              <a:rPr lang="fr-FR" dirty="0" smtClean="0"/>
              <a:t>Utilisation d’un </a:t>
            </a:r>
            <a:r>
              <a:rPr lang="fr-FR" dirty="0" smtClean="0">
                <a:solidFill>
                  <a:srgbClr val="FF0000"/>
                </a:solidFill>
              </a:rPr>
              <a:t>langage de programmation spécifique</a:t>
            </a:r>
            <a:r>
              <a:rPr lang="fr-FR" dirty="0" smtClean="0"/>
              <a:t>, </a:t>
            </a:r>
          </a:p>
          <a:p>
            <a:pPr lvl="1"/>
            <a:r>
              <a:rPr lang="fr-FR" dirty="0" smtClean="0">
                <a:solidFill>
                  <a:srgbClr val="FF0000"/>
                </a:solidFill>
              </a:rPr>
              <a:t>Complexité des technologies </a:t>
            </a:r>
            <a:r>
              <a:rPr lang="fr-FR" dirty="0" smtClean="0"/>
              <a:t>utilisées</a:t>
            </a:r>
          </a:p>
          <a:p>
            <a:pPr lvl="1"/>
            <a:r>
              <a:rPr lang="fr-FR" dirty="0" smtClean="0"/>
              <a:t>Incapacité de répondre au besoin d’</a:t>
            </a:r>
            <a:r>
              <a:rPr lang="fr-FR" dirty="0" smtClean="0">
                <a:solidFill>
                  <a:srgbClr val="00B050"/>
                </a:solidFill>
              </a:rPr>
              <a:t>interopérabilité</a:t>
            </a:r>
          </a:p>
          <a:p>
            <a:pPr lvl="1"/>
            <a:r>
              <a:rPr lang="fr-FR" dirty="0" smtClean="0"/>
              <a:t>Evolution des AD vers</a:t>
            </a:r>
            <a:r>
              <a:rPr lang="fr-FR" dirty="0" smtClean="0">
                <a:solidFill>
                  <a:srgbClr val="00B050"/>
                </a:solidFill>
              </a:rPr>
              <a:t> SOA</a:t>
            </a:r>
            <a:endParaRPr lang="fr-FR" dirty="0">
              <a:solidFill>
                <a:srgbClr val="00B050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26</a:t>
            </a:fld>
            <a:endParaRPr lang="fr-F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Introduction aux Web Services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fr-FR" sz="2000" dirty="0" smtClean="0"/>
              <a:t>Les Web Services sont des composants basés sur Internet(HTTP) qui exécutent des tâches précises et qui respectent un format spécifique(XML)</a:t>
            </a:r>
          </a:p>
          <a:p>
            <a:r>
              <a:rPr lang="fr-FR" sz="2000" dirty="0" smtClean="0"/>
              <a:t>Ils permettent aux applications de faire appel à des fonctionnalités à distance en simplifiant ainsi l’échange de données</a:t>
            </a:r>
          </a:p>
          <a:p>
            <a:r>
              <a:rPr lang="fr-FR" sz="2000" dirty="0" smtClean="0"/>
              <a:t>Les Web services permettent aux applications de dialoguer à travers le réseau, indépendamment de:</a:t>
            </a:r>
          </a:p>
          <a:p>
            <a:pPr lvl="1"/>
            <a:r>
              <a:rPr lang="fr-FR" sz="2000" dirty="0" smtClean="0"/>
              <a:t>Leur plate-forme  d’exécution</a:t>
            </a:r>
          </a:p>
          <a:p>
            <a:pPr lvl="1"/>
            <a:r>
              <a:rPr lang="fr-FR" sz="2000" dirty="0" smtClean="0"/>
              <a:t>Et de leur langage d’exécution</a:t>
            </a:r>
          </a:p>
          <a:p>
            <a:r>
              <a:rPr lang="fr-FR" sz="2400" dirty="0" smtClean="0"/>
              <a:t>Il s’inscrivent dans la continuité d’initiatives telles que </a:t>
            </a:r>
          </a:p>
          <a:p>
            <a:pPr lvl="1"/>
            <a:r>
              <a:rPr lang="fr-FR" sz="2200" dirty="0" smtClean="0"/>
              <a:t>CORBA(Common Object </a:t>
            </a:r>
            <a:r>
              <a:rPr lang="fr-FR" sz="2200" dirty="0" err="1" smtClean="0"/>
              <a:t>Request</a:t>
            </a:r>
            <a:r>
              <a:rPr lang="fr-FR" sz="2200" dirty="0" smtClean="0"/>
              <a:t> Broker Architecture, de l’OMG) en apportant toutefois  une réponse plus simple s’appuyant sue des technologies et standards reconnus et maintenant acceptés de tous.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27</a:t>
            </a:fld>
            <a:endParaRPr lang="fr-F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Le protocole HTTP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fr-FR" b="1" dirty="0" smtClean="0"/>
              <a:t>HTTP: HyperText Transfert Protocol</a:t>
            </a:r>
          </a:p>
          <a:p>
            <a:r>
              <a:rPr lang="fr-FR" dirty="0" smtClean="0"/>
              <a:t>Protocole qui permet au client de récupérer des documents du serveur</a:t>
            </a:r>
          </a:p>
          <a:p>
            <a:r>
              <a:rPr lang="fr-FR" dirty="0" smtClean="0"/>
              <a:t>Ces documents peuvent être statiques (contenu qui ne change </a:t>
            </a:r>
            <a:r>
              <a:rPr lang="fr-FR" dirty="0" err="1" smtClean="0"/>
              <a:t>pas:HTML</a:t>
            </a:r>
            <a:r>
              <a:rPr lang="fr-FR" dirty="0" smtClean="0"/>
              <a:t>, PDF, Image </a:t>
            </a:r>
            <a:r>
              <a:rPr lang="fr-FR" dirty="0" err="1" smtClean="0"/>
              <a:t>etc</a:t>
            </a:r>
            <a:r>
              <a:rPr lang="fr-FR" dirty="0" smtClean="0"/>
              <a:t>) ou dynamique( contenu généré dynamiquement au moment de la requête: ASP, JSP, PHP,…)</a:t>
            </a:r>
          </a:p>
          <a:p>
            <a:r>
              <a:rPr lang="fr-FR" dirty="0" smtClean="0"/>
              <a:t>Ce protocole permet également de soumissionner les formulaires</a:t>
            </a:r>
          </a:p>
          <a:p>
            <a:pPr>
              <a:buNone/>
            </a:pPr>
            <a:r>
              <a:rPr lang="fr-FR" b="1" dirty="0" smtClean="0"/>
              <a:t>Fonctionnement (très simple en http)</a:t>
            </a:r>
          </a:p>
          <a:p>
            <a:r>
              <a:rPr lang="fr-FR" dirty="0" smtClean="0"/>
              <a:t>Le client se connecte au serveur (créer une socket)</a:t>
            </a:r>
          </a:p>
          <a:p>
            <a:r>
              <a:rPr lang="fr-FR" dirty="0" smtClean="0"/>
              <a:t>Le client demande au serveur un document: requête Http</a:t>
            </a:r>
          </a:p>
          <a:p>
            <a:r>
              <a:rPr lang="fr-FR" dirty="0" smtClean="0"/>
              <a:t>Le serveur renvoie au client le document (</a:t>
            </a:r>
            <a:r>
              <a:rPr lang="fr-FR" dirty="0" err="1" smtClean="0"/>
              <a:t>status</a:t>
            </a:r>
            <a:r>
              <a:rPr lang="fr-FR" dirty="0" smtClean="0"/>
              <a:t>:200)ou d’une erreur (</a:t>
            </a:r>
            <a:r>
              <a:rPr lang="fr-FR" dirty="0" err="1" smtClean="0"/>
              <a:t>status</a:t>
            </a:r>
            <a:r>
              <a:rPr lang="fr-FR" dirty="0" smtClean="0"/>
              <a:t>:400 quand le document n’existe pas)</a:t>
            </a:r>
          </a:p>
          <a:p>
            <a:r>
              <a:rPr lang="fr-FR" dirty="0" smtClean="0"/>
              <a:t>Déconnexion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28</a:t>
            </a:fld>
            <a:endParaRPr lang="fr-F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Connexion</a:t>
            </a:r>
            <a:endParaRPr lang="fr-FR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2976" y="2258143"/>
            <a:ext cx="6500858" cy="35997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29</a:t>
            </a:fld>
            <a:endParaRPr lang="fr-F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Méthodes du protocole HTTP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 smtClean="0"/>
              <a:t>Une requête HTTP peut être envoyée en utilisant les méthodes suivantes:</a:t>
            </a:r>
          </a:p>
          <a:p>
            <a:r>
              <a:rPr lang="fr-FR" b="1" dirty="0" smtClean="0"/>
              <a:t>GET</a:t>
            </a:r>
            <a:r>
              <a:rPr lang="fr-FR" dirty="0" smtClean="0"/>
              <a:t>: pour récupérer le contenu d’un document</a:t>
            </a:r>
          </a:p>
          <a:p>
            <a:r>
              <a:rPr lang="fr-FR" b="1" dirty="0" smtClean="0"/>
              <a:t>POST</a:t>
            </a:r>
            <a:r>
              <a:rPr lang="fr-FR" dirty="0" smtClean="0"/>
              <a:t>: pour soumissionner des formulaires (envoyer dans la requête des données saisies par l’utilisateur)</a:t>
            </a:r>
          </a:p>
          <a:p>
            <a:r>
              <a:rPr lang="fr-FR" b="1" dirty="0" smtClean="0"/>
              <a:t>PUT</a:t>
            </a:r>
            <a:r>
              <a:rPr lang="fr-FR" dirty="0" smtClean="0"/>
              <a:t>: pour envoyer un fichier du client vers le serveur</a:t>
            </a:r>
          </a:p>
          <a:p>
            <a:r>
              <a:rPr lang="fr-FR" b="1" dirty="0" smtClean="0"/>
              <a:t>DELETE</a:t>
            </a:r>
            <a:r>
              <a:rPr lang="fr-FR" dirty="0" smtClean="0"/>
              <a:t>: permet de demander au serveur de supprimer un document </a:t>
            </a:r>
          </a:p>
          <a:p>
            <a:r>
              <a:rPr lang="fr-FR" b="1" dirty="0" smtClean="0"/>
              <a:t>HEAD</a:t>
            </a:r>
            <a:r>
              <a:rPr lang="fr-FR" dirty="0" smtClean="0"/>
              <a:t>: permet de récupérer les informations sur un document(Type, Capacité, date de dernière modification </a:t>
            </a:r>
            <a:r>
              <a:rPr lang="fr-FR" dirty="0" err="1" smtClean="0"/>
              <a:t>etc</a:t>
            </a:r>
            <a:r>
              <a:rPr lang="fr-FR" dirty="0" smtClean="0"/>
              <a:t>…)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30</a:t>
            </a:fld>
            <a:endParaRPr lang="fr-F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sz="4000" dirty="0" smtClean="0"/>
              <a:t>Le client envoie la requête: méthode POST</a:t>
            </a:r>
            <a:br>
              <a:rPr lang="fr-FR" sz="4000" dirty="0" smtClean="0"/>
            </a:br>
            <a:endParaRPr lang="fr-FR" sz="4000" dirty="0"/>
          </a:p>
        </p:txBody>
      </p:sp>
      <p:pic>
        <p:nvPicPr>
          <p:cNvPr id="307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71604" y="1928802"/>
            <a:ext cx="5000660" cy="36822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31</a:t>
            </a:fld>
            <a:endParaRPr lang="fr-F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78579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fr-FR" sz="4000" dirty="0" smtClean="0"/>
              <a:t>Le client envoie la requête: méthode GET</a:t>
            </a:r>
            <a:r>
              <a:rPr lang="fr-FR" sz="5400" dirty="0" smtClean="0"/>
              <a:t/>
            </a:r>
            <a:br>
              <a:rPr lang="fr-FR" sz="5400" dirty="0" smtClean="0"/>
            </a:br>
            <a:endParaRPr lang="fr-FR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85852" y="1601442"/>
            <a:ext cx="5186385" cy="39905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32</a:t>
            </a:fld>
            <a:endParaRPr lang="fr-F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Le serveur envoie la réponse</a:t>
            </a:r>
            <a:endParaRPr lang="fr-FR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28794" y="1928802"/>
            <a:ext cx="5614994" cy="4019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33</a:t>
            </a:fld>
            <a:endParaRPr lang="fr-F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L’idée des Web Services</a:t>
            </a:r>
            <a:endParaRPr lang="fr-FR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1539" y="2143116"/>
            <a:ext cx="5962674" cy="35393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34</a:t>
            </a:fld>
            <a:endParaRPr lang="fr-F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Requête SOAP avec Post</a:t>
            </a:r>
            <a:endParaRPr lang="fr-FR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1538" y="2071678"/>
            <a:ext cx="6357982" cy="40005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35</a:t>
            </a:fld>
            <a:endParaRPr lang="fr-F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Réponse SOAP</a:t>
            </a:r>
            <a:endParaRPr lang="fr-FR" dirty="0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9762" y="2234406"/>
            <a:ext cx="5324475" cy="379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36</a:t>
            </a:fld>
            <a:endParaRPr lang="fr-F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Concepts des Web Services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dirty="0" smtClean="0"/>
              <a:t>Le concept des Web Services s’articule actuellement autour des trois concepts suivants:</a:t>
            </a:r>
          </a:p>
          <a:p>
            <a:r>
              <a:rPr lang="fr-FR" dirty="0" smtClean="0">
                <a:solidFill>
                  <a:srgbClr val="FF0000"/>
                </a:solidFill>
              </a:rPr>
              <a:t>SOAP</a:t>
            </a:r>
            <a:r>
              <a:rPr lang="fr-FR" dirty="0" smtClean="0"/>
              <a:t>(</a:t>
            </a:r>
            <a:r>
              <a:rPr lang="fr-FR" b="1" dirty="0" smtClean="0"/>
              <a:t>S</a:t>
            </a:r>
            <a:r>
              <a:rPr lang="fr-FR" dirty="0" smtClean="0"/>
              <a:t>imple </a:t>
            </a:r>
            <a:r>
              <a:rPr lang="fr-FR" b="1" dirty="0" smtClean="0"/>
              <a:t>O</a:t>
            </a:r>
            <a:r>
              <a:rPr lang="fr-FR" dirty="0" smtClean="0"/>
              <a:t>bject </a:t>
            </a:r>
            <a:r>
              <a:rPr lang="fr-FR" b="1" dirty="0" smtClean="0"/>
              <a:t>A</a:t>
            </a:r>
            <a:r>
              <a:rPr lang="fr-FR" dirty="0" smtClean="0"/>
              <a:t>ccess </a:t>
            </a:r>
            <a:r>
              <a:rPr lang="fr-FR" b="1" dirty="0" smtClean="0"/>
              <a:t>P</a:t>
            </a:r>
            <a:r>
              <a:rPr lang="fr-FR" dirty="0" smtClean="0"/>
              <a:t>rotocol)</a:t>
            </a:r>
          </a:p>
          <a:p>
            <a:pPr lvl="2"/>
            <a:r>
              <a:rPr lang="fr-FR" dirty="0" smtClean="0"/>
              <a:t>C’est un protocole d’échange inter-applications indépendants de toute plateforme, basé sur le langage XML</a:t>
            </a:r>
          </a:p>
          <a:p>
            <a:pPr lvl="2"/>
            <a:r>
              <a:rPr lang="fr-FR" dirty="0" smtClean="0"/>
              <a:t>Un appel de service SOAP est un flux ASCII encadré dans des balises XML et transporté dans le protocole http.</a:t>
            </a:r>
          </a:p>
          <a:p>
            <a:r>
              <a:rPr lang="fr-FR" dirty="0" smtClean="0">
                <a:solidFill>
                  <a:srgbClr val="FF0000"/>
                </a:solidFill>
              </a:rPr>
              <a:t>WSDL</a:t>
            </a:r>
            <a:r>
              <a:rPr lang="fr-FR" dirty="0" smtClean="0"/>
              <a:t> (</a:t>
            </a:r>
            <a:r>
              <a:rPr lang="fr-FR" b="1" dirty="0" smtClean="0"/>
              <a:t>W</a:t>
            </a:r>
            <a:r>
              <a:rPr lang="fr-FR" dirty="0" smtClean="0"/>
              <a:t>eb </a:t>
            </a:r>
            <a:r>
              <a:rPr lang="fr-FR" b="1" dirty="0" smtClean="0"/>
              <a:t>S</a:t>
            </a:r>
            <a:r>
              <a:rPr lang="fr-FR" dirty="0" smtClean="0"/>
              <a:t>ervices </a:t>
            </a:r>
            <a:r>
              <a:rPr lang="fr-FR" b="1" dirty="0" smtClean="0"/>
              <a:t>D</a:t>
            </a:r>
            <a:r>
              <a:rPr lang="fr-FR" dirty="0" smtClean="0"/>
              <a:t>escription </a:t>
            </a:r>
            <a:r>
              <a:rPr lang="fr-FR" b="1" dirty="0" smtClean="0"/>
              <a:t>L</a:t>
            </a:r>
            <a:r>
              <a:rPr lang="fr-FR" dirty="0" smtClean="0"/>
              <a:t>angage)</a:t>
            </a:r>
          </a:p>
          <a:p>
            <a:pPr lvl="2"/>
            <a:r>
              <a:rPr lang="fr-FR" dirty="0" smtClean="0"/>
              <a:t>Donne la </a:t>
            </a:r>
            <a:r>
              <a:rPr lang="fr-FR" dirty="0" err="1" smtClean="0"/>
              <a:t>déscription</a:t>
            </a:r>
            <a:r>
              <a:rPr lang="fr-FR" dirty="0" smtClean="0"/>
              <a:t> au format XML des Web Services en précisant les méthodes pouvant être invoquées, leurs signatures et le point d’accès(URL, port, etc.)</a:t>
            </a:r>
          </a:p>
          <a:p>
            <a:r>
              <a:rPr lang="fr-FR" dirty="0" smtClean="0">
                <a:solidFill>
                  <a:srgbClr val="FF0000"/>
                </a:solidFill>
              </a:rPr>
              <a:t>UDDI</a:t>
            </a:r>
            <a:r>
              <a:rPr lang="fr-FR" dirty="0" smtClean="0"/>
              <a:t>(</a:t>
            </a:r>
            <a:r>
              <a:rPr lang="fr-FR" b="1" dirty="0" err="1" smtClean="0"/>
              <a:t>U</a:t>
            </a:r>
            <a:r>
              <a:rPr lang="fr-FR" dirty="0" err="1" smtClean="0"/>
              <a:t>niversal</a:t>
            </a:r>
            <a:r>
              <a:rPr lang="fr-FR" dirty="0" smtClean="0"/>
              <a:t> </a:t>
            </a:r>
            <a:r>
              <a:rPr lang="fr-FR" b="1" dirty="0" smtClean="0"/>
              <a:t>D</a:t>
            </a:r>
            <a:r>
              <a:rPr lang="fr-FR" dirty="0" smtClean="0"/>
              <a:t>escription </a:t>
            </a:r>
            <a:r>
              <a:rPr lang="fr-FR" b="1" dirty="0" err="1" smtClean="0"/>
              <a:t>D</a:t>
            </a:r>
            <a:r>
              <a:rPr lang="fr-FR" dirty="0" err="1" smtClean="0"/>
              <a:t>iscovery</a:t>
            </a:r>
            <a:r>
              <a:rPr lang="fr-FR" dirty="0" smtClean="0"/>
              <a:t> and </a:t>
            </a:r>
            <a:r>
              <a:rPr lang="fr-FR" b="1" dirty="0" err="1" smtClean="0"/>
              <a:t>I</a:t>
            </a:r>
            <a:r>
              <a:rPr lang="fr-FR" dirty="0" err="1" smtClean="0"/>
              <a:t>ntegration</a:t>
            </a:r>
            <a:r>
              <a:rPr lang="fr-FR" dirty="0" smtClean="0"/>
              <a:t>)</a:t>
            </a:r>
          </a:p>
          <a:p>
            <a:pPr lvl="2"/>
            <a:r>
              <a:rPr lang="fr-FR" dirty="0" smtClean="0"/>
              <a:t>Normalise une solution d’annuaire distribuée de Web Services, permettant à la fois la publication et l’exploration (recherche) des web services</a:t>
            </a:r>
          </a:p>
          <a:p>
            <a:pPr lvl="2"/>
            <a:r>
              <a:rPr lang="fr-FR" dirty="0" smtClean="0"/>
              <a:t>UDDI se comporte lui-même comme un Web Service dont les méthodes sont appelée s via le protocole SOAP</a:t>
            </a:r>
          </a:p>
          <a:p>
            <a:pPr lvl="2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37</a:t>
            </a:fld>
            <a:endParaRPr lang="fr-F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Cycle de vie d’utilisation</a:t>
            </a:r>
            <a:endParaRPr lang="fr-FR" dirty="0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1538" y="2143116"/>
            <a:ext cx="6357981" cy="39290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38</a:t>
            </a:fld>
            <a:endParaRPr lang="fr-FR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SOAP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 smtClean="0"/>
              <a:t>SOAP un protocole d’invocation de méthodes sur des services distants.</a:t>
            </a:r>
            <a:r>
              <a:rPr lang="fr-FR" b="1" dirty="0" smtClean="0"/>
              <a:t>basé sur XML</a:t>
            </a:r>
          </a:p>
          <a:p>
            <a:r>
              <a:rPr lang="fr-FR" dirty="0" smtClean="0"/>
              <a:t>SOAP a pour principal objectif </a:t>
            </a:r>
            <a:r>
              <a:rPr lang="fr-FR" b="1" dirty="0" smtClean="0"/>
              <a:t>d’assurer la communication entre des machines</a:t>
            </a:r>
            <a:r>
              <a:rPr lang="fr-FR" dirty="0" smtClean="0"/>
              <a:t>.</a:t>
            </a:r>
          </a:p>
          <a:p>
            <a:r>
              <a:rPr lang="fr-FR" dirty="0" smtClean="0"/>
              <a:t>Le protocole permet d’appeler une méthode RPC et d’envoyer des messages aux machines distantes via un protocole de transport(HTTP)</a:t>
            </a:r>
          </a:p>
          <a:p>
            <a:r>
              <a:rPr lang="fr-FR" dirty="0" smtClean="0"/>
              <a:t>Ce protocole est très bien adapté à l’utilisation des Services Web, car il permet de fournir  au client une très grande quantité d’information récupérées sur un réseau de serveurs tiers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39</a:t>
            </a:fld>
            <a:endParaRPr lang="fr-FR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SOAP</a:t>
            </a:r>
            <a:endParaRPr lang="fr-FR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728" y="2857496"/>
            <a:ext cx="6447594" cy="271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40</a:t>
            </a:fld>
            <a:endParaRPr lang="fr-FR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Structure d’un message SOAP</a:t>
            </a:r>
            <a:endParaRPr lang="fr-FR" dirty="0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43042" y="2071678"/>
            <a:ext cx="5000660" cy="4071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41</a:t>
            </a:fld>
            <a:endParaRPr lang="fr-FR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Structure d’un message SOAP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FR" b="1" dirty="0" smtClean="0"/>
              <a:t>SOAP </a:t>
            </a:r>
            <a:r>
              <a:rPr lang="fr-FR" b="1" dirty="0" err="1" smtClean="0"/>
              <a:t>envelope</a:t>
            </a:r>
            <a:r>
              <a:rPr lang="fr-FR" b="1" dirty="0" smtClean="0"/>
              <a:t> </a:t>
            </a:r>
            <a:r>
              <a:rPr lang="fr-FR" dirty="0" smtClean="0"/>
              <a:t>(enveloppe)</a:t>
            </a:r>
          </a:p>
          <a:p>
            <a:pPr lvl="1"/>
            <a:r>
              <a:rPr lang="fr-FR" dirty="0" smtClean="0"/>
              <a:t>Est l’élément de base du message SOAP</a:t>
            </a:r>
          </a:p>
          <a:p>
            <a:pPr lvl="1"/>
            <a:r>
              <a:rPr lang="fr-FR" dirty="0" smtClean="0"/>
              <a:t>L’enveloppe contient la spécification des espaces de désignation (</a:t>
            </a:r>
            <a:r>
              <a:rPr lang="fr-FR" dirty="0" err="1" smtClean="0"/>
              <a:t>namespace</a:t>
            </a:r>
            <a:r>
              <a:rPr lang="fr-FR" dirty="0" smtClean="0"/>
              <a:t>) et du codage de données</a:t>
            </a:r>
          </a:p>
          <a:p>
            <a:r>
              <a:rPr lang="fr-FR" b="1" dirty="0" smtClean="0"/>
              <a:t>SOAP header</a:t>
            </a:r>
          </a:p>
          <a:p>
            <a:pPr lvl="1"/>
            <a:r>
              <a:rPr lang="fr-FR" dirty="0" smtClean="0"/>
              <a:t>Entête est une partie facultative qui permet d’ajouter des fonctionnalités à un message SOAP de manière décentralisée sans agrément entre les parties qui communiquent.</a:t>
            </a:r>
          </a:p>
          <a:p>
            <a:pPr lvl="1"/>
            <a:r>
              <a:rPr lang="fr-FR" dirty="0" smtClean="0"/>
              <a:t>L’entête est utile surtout, quand le message doit être traité par plusieurs intermédiaires.</a:t>
            </a:r>
          </a:p>
          <a:p>
            <a:r>
              <a:rPr lang="fr-FR" b="1" dirty="0" smtClean="0"/>
              <a:t>SOAP body </a:t>
            </a:r>
            <a:r>
              <a:rPr lang="fr-FR" dirty="0" smtClean="0"/>
              <a:t>(corps) est un container pour les informations mandataires à l’intention du récepteur de message, il contient les méthodes et les paramètres qui seront exécutés par le destinataire final.</a:t>
            </a:r>
          </a:p>
          <a:p>
            <a:r>
              <a:rPr lang="fr-FR" b="1" dirty="0" smtClean="0"/>
              <a:t>SOAP </a:t>
            </a:r>
            <a:r>
              <a:rPr lang="fr-FR" b="1" dirty="0" err="1" smtClean="0"/>
              <a:t>fault</a:t>
            </a:r>
            <a:r>
              <a:rPr lang="fr-FR" b="1" dirty="0" smtClean="0"/>
              <a:t>(erreur) </a:t>
            </a:r>
            <a:r>
              <a:rPr lang="fr-FR" dirty="0" smtClean="0"/>
              <a:t>est un élément facultatif défini dans le corps SOAP et qui est utilisé pour reporter les erreurs.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42</a:t>
            </a:fld>
            <a:endParaRPr lang="fr-FR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2910" y="1714488"/>
            <a:ext cx="8305800" cy="2428892"/>
          </a:xfrm>
        </p:spPr>
        <p:txBody>
          <a:bodyPr>
            <a:normAutofit/>
          </a:bodyPr>
          <a:lstStyle/>
          <a:p>
            <a:r>
              <a:rPr lang="fr-FR" dirty="0" smtClean="0"/>
              <a:t>Mise en œuvre des Services Web avec JAX-WS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43</a:t>
            </a:fld>
            <a:endParaRPr lang="fr-FR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JAX-WS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 smtClean="0"/>
              <a:t>JAX-WS est la nouvelle appellation de JAX-RPC(Java Api for XML </a:t>
            </a:r>
            <a:r>
              <a:rPr lang="fr-FR" dirty="0" err="1" smtClean="0"/>
              <a:t>Based</a:t>
            </a:r>
            <a:r>
              <a:rPr lang="fr-FR" dirty="0" smtClean="0"/>
              <a:t> RPC) qui permet de développer très facilement des services Web en java.</a:t>
            </a:r>
          </a:p>
          <a:p>
            <a:r>
              <a:rPr lang="fr-FR" dirty="0" smtClean="0"/>
              <a:t>JAX-WS fournit facilement un ensemble d’annotations pour mapper la correspondance java-WSDL.il suffit pour cela d’annoter directement les classes java qui vont représenter le service Web.</a:t>
            </a:r>
          </a:p>
          <a:p>
            <a:r>
              <a:rPr lang="fr-FR" dirty="0" smtClean="0"/>
              <a:t>Dans l’exemple ci-dessous, une classe java utilise des annotations JAX-WS qui vont permettre par la suite de générer le document WSDL. Le document WSDL est auto-généré par le serveur d’application au moment du déploiement: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44</a:t>
            </a:fld>
            <a:endParaRPr lang="fr-FR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JAX-WS</a:t>
            </a:r>
            <a:endParaRPr lang="fr-FR" dirty="0"/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48" y="2285992"/>
            <a:ext cx="6229377" cy="357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45</a:t>
            </a:fld>
            <a:endParaRPr lang="fr-FR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JAX-WS/JAXB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JAW-WS  s’appuie sur l’API JAXB2.0 pour tout ce qui concerne la correspondance entre document XML et objets java.</a:t>
            </a:r>
          </a:p>
          <a:p>
            <a:r>
              <a:rPr lang="fr-FR" dirty="0" smtClean="0"/>
              <a:t>JAXB 2.0 permet de mapper des objets java dans un document XML et vice versa</a:t>
            </a:r>
          </a:p>
          <a:p>
            <a:r>
              <a:rPr lang="fr-FR" dirty="0" smtClean="0"/>
              <a:t>Il permet aussi de générer des classes java à partir d’un schéma XML et vice versa</a:t>
            </a:r>
          </a:p>
          <a:p>
            <a:pPr>
              <a:buNone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46</a:t>
            </a:fld>
            <a:endParaRPr lang="fr-FR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Principes de JAXB</a:t>
            </a:r>
            <a:endParaRPr lang="fr-FR" dirty="0"/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786" y="2000240"/>
            <a:ext cx="5967439" cy="36631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47</a:t>
            </a:fld>
            <a:endParaRPr lang="fr-FR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Générer XML à partir des objets java avec JAXB </a:t>
            </a:r>
            <a:endParaRPr lang="fr-FR" dirty="0"/>
          </a:p>
        </p:txBody>
      </p:sp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0100" y="1857364"/>
            <a:ext cx="6715172" cy="4214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48</a:t>
            </a:fld>
            <a:endParaRPr lang="fr-FR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Générer des objets java à partir des documents XML</a:t>
            </a:r>
            <a:endParaRPr lang="fr-FR" dirty="0"/>
          </a:p>
        </p:txBody>
      </p:sp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1538" y="1822910"/>
            <a:ext cx="6286543" cy="39547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49</a:t>
            </a:fld>
            <a:endParaRPr lang="fr-FR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Générer un schéma XML à partir d’une classe avec JAXB</a:t>
            </a:r>
            <a:endParaRPr lang="fr-FR" dirty="0"/>
          </a:p>
        </p:txBody>
      </p:sp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786" y="2091562"/>
            <a:ext cx="6210328" cy="4337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50</a:t>
            </a:fld>
            <a:endParaRPr lang="fr-FR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Génération des classes à partir d’un schéma XML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Pour permettre l’utilisation et la manipulation d’un document XML, JAXB propose de générer un ensemble de classes à partir d’un schéma XML du document.</a:t>
            </a:r>
          </a:p>
          <a:p>
            <a:r>
              <a:rPr lang="fr-FR" dirty="0" smtClean="0"/>
              <a:t>L’implémentation de référence fournit l’outil </a:t>
            </a:r>
            <a:r>
              <a:rPr lang="fr-FR" dirty="0" err="1" smtClean="0">
                <a:solidFill>
                  <a:srgbClr val="FF0000"/>
                </a:solidFill>
              </a:rPr>
              <a:t>xjc</a:t>
            </a:r>
            <a:r>
              <a:rPr lang="fr-FR" dirty="0" smtClean="0"/>
              <a:t> pour générer les classes à partir d’un schéma XML</a:t>
            </a:r>
          </a:p>
          <a:p>
            <a:r>
              <a:rPr lang="fr-FR" dirty="0" smtClean="0"/>
              <a:t>L’utilisation la plus simple de l’outil </a:t>
            </a:r>
            <a:r>
              <a:rPr lang="fr-FR" dirty="0" err="1" smtClean="0"/>
              <a:t>xjc</a:t>
            </a:r>
            <a:r>
              <a:rPr lang="fr-FR" dirty="0" smtClean="0"/>
              <a:t> est de lui fournir simplement le fichier qui contient le schéma XML du document à utiliser.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51</a:t>
            </a:fld>
            <a:endParaRPr lang="fr-FR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Classes générées par </a:t>
            </a:r>
            <a:r>
              <a:rPr lang="fr-FR" dirty="0" err="1" smtClean="0"/>
              <a:t>xjc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L’outil </a:t>
            </a:r>
            <a:r>
              <a:rPr lang="fr-FR" dirty="0" err="1" smtClean="0"/>
              <a:t>xjc</a:t>
            </a:r>
            <a:r>
              <a:rPr lang="fr-FR" dirty="0" smtClean="0"/>
              <a:t> génère deux classes:</a:t>
            </a:r>
          </a:p>
          <a:p>
            <a:pPr lvl="1"/>
            <a:r>
              <a:rPr lang="fr-FR" dirty="0" smtClean="0"/>
              <a:t>Compte.java qui correspond au type complexe Compte dans le schéma XML.</a:t>
            </a:r>
          </a:p>
          <a:p>
            <a:pPr lvl="1"/>
            <a:r>
              <a:rPr lang="fr-FR" dirty="0" err="1" smtClean="0"/>
              <a:t>ObjectFactory</a:t>
            </a:r>
            <a:r>
              <a:rPr lang="fr-FR" dirty="0" smtClean="0"/>
              <a:t> .</a:t>
            </a:r>
            <a:r>
              <a:rPr lang="fr-FR" dirty="0" err="1" smtClean="0"/>
              <a:t>java:une</a:t>
            </a:r>
            <a:r>
              <a:rPr lang="fr-FR" dirty="0" smtClean="0"/>
              <a:t> fabrique qui permet de créer des objets de type Compte.</a:t>
            </a:r>
          </a:p>
          <a:p>
            <a:pPr>
              <a:buNone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52</a:t>
            </a:fld>
            <a:endParaRPr lang="fr-FR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Quelques annotations JAXB</a:t>
            </a:r>
            <a:endParaRPr lang="fr-FR" dirty="0"/>
          </a:p>
        </p:txBody>
      </p:sp>
      <p:pic>
        <p:nvPicPr>
          <p:cNvPr id="174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00167" y="2062138"/>
            <a:ext cx="4791096" cy="3581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53</a:t>
            </a:fld>
            <a:endParaRPr lang="fr-FR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Comment développer un Web service JAX-WS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fr-FR" dirty="0" smtClean="0"/>
              <a:t>Créer le service Web </a:t>
            </a:r>
          </a:p>
          <a:p>
            <a:pPr marL="880110" lvl="1" indent="-514350">
              <a:buFont typeface="+mj-lt"/>
              <a:buAutoNum type="arabicPeriod"/>
            </a:pPr>
            <a:r>
              <a:rPr lang="fr-FR" dirty="0" smtClean="0"/>
              <a:t>Développer le Web Service </a:t>
            </a:r>
          </a:p>
          <a:p>
            <a:pPr marL="880110" lvl="1" indent="-514350">
              <a:buFont typeface="+mj-lt"/>
              <a:buAutoNum type="arabicPeriod"/>
            </a:pPr>
            <a:r>
              <a:rPr lang="fr-FR" dirty="0" smtClean="0"/>
              <a:t>Déployer le Web Service</a:t>
            </a:r>
          </a:p>
          <a:p>
            <a:pPr marL="1154430" lvl="2" indent="-514350"/>
            <a:r>
              <a:rPr lang="fr-FR" dirty="0" smtClean="0"/>
              <a:t>Un serveur HTTP</a:t>
            </a:r>
          </a:p>
          <a:p>
            <a:pPr marL="1154430" lvl="2" indent="-514350"/>
            <a:r>
              <a:rPr lang="fr-FR" dirty="0" smtClean="0"/>
              <a:t>Un conteneur WS (</a:t>
            </a:r>
            <a:r>
              <a:rPr lang="fr-FR" dirty="0" err="1" smtClean="0"/>
              <a:t>JaxWS</a:t>
            </a:r>
            <a:r>
              <a:rPr lang="fr-FR" dirty="0" smtClean="0"/>
              <a:t>, AXIS, </a:t>
            </a:r>
            <a:r>
              <a:rPr lang="fr-FR" dirty="0" err="1" smtClean="0"/>
              <a:t>CXF,etc.</a:t>
            </a:r>
            <a:r>
              <a:rPr lang="fr-FR" dirty="0" smtClean="0"/>
              <a:t>)</a:t>
            </a:r>
          </a:p>
          <a:p>
            <a:pPr marL="514350" indent="-514350"/>
            <a:r>
              <a:rPr lang="fr-FR" dirty="0" smtClean="0"/>
              <a:t>Tester le web Service avec un analyseur SOAP</a:t>
            </a:r>
          </a:p>
          <a:p>
            <a:pPr marL="880110" lvl="1" indent="-514350"/>
            <a:r>
              <a:rPr lang="fr-FR" dirty="0" smtClean="0"/>
              <a:t>SOAPUI</a:t>
            </a:r>
          </a:p>
          <a:p>
            <a:pPr marL="880110" lvl="1" indent="-514350"/>
            <a:r>
              <a:rPr lang="fr-FR" dirty="0" err="1" smtClean="0"/>
              <a:t>OXYGEN,etc.</a:t>
            </a:r>
            <a:endParaRPr lang="fr-FR" dirty="0" smtClean="0"/>
          </a:p>
          <a:p>
            <a:pPr marL="514350" indent="-514350"/>
            <a:r>
              <a:rPr lang="fr-FR" dirty="0" smtClean="0"/>
              <a:t>Créer les clients</a:t>
            </a:r>
          </a:p>
          <a:p>
            <a:pPr marL="880110" lvl="1" indent="-514350"/>
            <a:r>
              <a:rPr lang="fr-FR" dirty="0" smtClean="0"/>
              <a:t>Un client Java</a:t>
            </a:r>
          </a:p>
          <a:p>
            <a:pPr marL="880110" lvl="1" indent="-514350"/>
            <a:r>
              <a:rPr lang="fr-FR" dirty="0" smtClean="0"/>
              <a:t>Un client .NET</a:t>
            </a:r>
          </a:p>
          <a:p>
            <a:pPr marL="880110" lvl="1" indent="-514350"/>
            <a:r>
              <a:rPr lang="fr-FR" dirty="0" smtClean="0"/>
              <a:t>Un client PHP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54</a:t>
            </a:fld>
            <a:endParaRPr lang="fr-FR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Application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Créer un Web Service java en utilisant </a:t>
            </a:r>
            <a:r>
              <a:rPr lang="fr-FR" dirty="0" err="1" smtClean="0"/>
              <a:t>JaxWS</a:t>
            </a:r>
            <a:r>
              <a:rPr lang="fr-FR" dirty="0" smtClean="0"/>
              <a:t> qui permet de convertir</a:t>
            </a:r>
          </a:p>
          <a:p>
            <a:pPr lvl="1"/>
            <a:r>
              <a:rPr lang="fr-FR" dirty="0" smtClean="0"/>
              <a:t>Un montant de l’Euro en Dinar</a:t>
            </a:r>
          </a:p>
          <a:p>
            <a:pPr lvl="1"/>
            <a:r>
              <a:rPr lang="fr-FR" dirty="0" smtClean="0"/>
              <a:t>Consulter un compte sachant son code</a:t>
            </a:r>
          </a:p>
          <a:p>
            <a:pPr lvl="1"/>
            <a:r>
              <a:rPr lang="fr-FR" dirty="0" smtClean="0"/>
              <a:t>Consulter une liste de compte</a:t>
            </a:r>
          </a:p>
          <a:p>
            <a:r>
              <a:rPr lang="fr-FR" dirty="0" smtClean="0"/>
              <a:t>Tester le Web Service avec un analyseur SOAP</a:t>
            </a:r>
          </a:p>
          <a:p>
            <a:r>
              <a:rPr lang="fr-FR" dirty="0" smtClean="0"/>
              <a:t>Créer un client Java</a:t>
            </a:r>
          </a:p>
          <a:p>
            <a:r>
              <a:rPr lang="fr-FR" dirty="0" smtClean="0"/>
              <a:t>Créer un client .Net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55</a:t>
            </a:fld>
            <a:endParaRPr lang="fr-FR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Application</a:t>
            </a:r>
            <a:endParaRPr lang="fr-FR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1538" y="2286794"/>
            <a:ext cx="5957912" cy="392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56</a:t>
            </a:fld>
            <a:endParaRPr lang="fr-FR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Application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57</a:t>
            </a:fld>
            <a:endParaRPr lang="fr-FR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43042" y="2571744"/>
            <a:ext cx="6072230" cy="3857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Web Service </a:t>
            </a:r>
            <a:r>
              <a:rPr lang="fr-FR" dirty="0" err="1" smtClean="0"/>
              <a:t>Rest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fr-FR" dirty="0" smtClean="0"/>
              <a:t>REST n'est pas un protocole, mais </a:t>
            </a:r>
            <a:r>
              <a:rPr lang="fr-FR" dirty="0" smtClean="0">
                <a:solidFill>
                  <a:srgbClr val="FF0000"/>
                </a:solidFill>
              </a:rPr>
              <a:t>une architecture</a:t>
            </a:r>
            <a:r>
              <a:rPr lang="fr-FR" dirty="0" smtClean="0"/>
              <a:t>. Créée par Roy Fielding en 2000, REST est un acronyme pour </a:t>
            </a:r>
            <a:r>
              <a:rPr lang="fr-FR" b="1" dirty="0" err="1" smtClean="0">
                <a:solidFill>
                  <a:srgbClr val="FF0000"/>
                </a:solidFill>
              </a:rPr>
              <a:t>Re</a:t>
            </a:r>
            <a:r>
              <a:rPr lang="fr-FR" dirty="0" err="1" smtClean="0"/>
              <a:t>presentational</a:t>
            </a:r>
            <a:r>
              <a:rPr lang="fr-FR" dirty="0" smtClean="0"/>
              <a:t> </a:t>
            </a:r>
            <a:r>
              <a:rPr lang="fr-FR" b="1" dirty="0" smtClean="0">
                <a:solidFill>
                  <a:srgbClr val="FF0000"/>
                </a:solidFill>
              </a:rPr>
              <a:t>S</a:t>
            </a:r>
            <a:r>
              <a:rPr lang="fr-FR" dirty="0" smtClean="0"/>
              <a:t>tate </a:t>
            </a:r>
            <a:r>
              <a:rPr lang="fr-FR" b="1" dirty="0" smtClean="0">
                <a:solidFill>
                  <a:srgbClr val="FF0000"/>
                </a:solidFill>
              </a:rPr>
              <a:t>T</a:t>
            </a:r>
            <a:r>
              <a:rPr lang="fr-FR" dirty="0" smtClean="0"/>
              <a:t>ransfer.</a:t>
            </a:r>
          </a:p>
          <a:p>
            <a:r>
              <a:rPr lang="fr-FR" dirty="0" err="1" smtClean="0"/>
              <a:t>Rest</a:t>
            </a:r>
            <a:r>
              <a:rPr lang="fr-FR" dirty="0" smtClean="0"/>
              <a:t> n’est pas un protocole ou un format, contrairement à SOAP, HTTP ou RCP, mais un style d’architecture inspiré de l’architecture du Web fortement basé sur </a:t>
            </a:r>
            <a:r>
              <a:rPr lang="fr-FR" smtClean="0"/>
              <a:t>le protocole HTTP</a:t>
            </a:r>
            <a:r>
              <a:rPr lang="fr-FR" dirty="0" smtClean="0"/>
              <a:t>.</a:t>
            </a:r>
          </a:p>
          <a:p>
            <a:r>
              <a:rPr lang="fr-FR" dirty="0" smtClean="0"/>
              <a:t>Il n’est pas dépendant uniquement du Web et peut utiliser d’autres protocoles que HTTP</a:t>
            </a:r>
          </a:p>
          <a:p>
            <a:r>
              <a:rPr lang="fr-FR" dirty="0" smtClean="0"/>
              <a:t>Il s’agit d’un ensemble de conventions et de bonnes pratiques à respecter et non d’une technologie à part entière.</a:t>
            </a:r>
          </a:p>
          <a:p>
            <a:r>
              <a:rPr lang="fr-FR" dirty="0" smtClean="0"/>
              <a:t>Les applications respectant l’architecture REST sont dites </a:t>
            </a:r>
            <a:r>
              <a:rPr lang="fr-FR" dirty="0" err="1" smtClean="0">
                <a:solidFill>
                  <a:srgbClr val="FF0000"/>
                </a:solidFill>
              </a:rPr>
              <a:t>RESTful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58</a:t>
            </a:fld>
            <a:endParaRPr lang="fr-FR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Web Service </a:t>
            </a:r>
            <a:r>
              <a:rPr lang="fr-FR" dirty="0" err="1" smtClean="0"/>
              <a:t>Rest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fr-FR" dirty="0" smtClean="0">
                <a:solidFill>
                  <a:srgbClr val="FF0000"/>
                </a:solidFill>
              </a:rPr>
              <a:t>Ce qu’il est:</a:t>
            </a:r>
          </a:p>
          <a:p>
            <a:r>
              <a:rPr lang="fr-FR" dirty="0" smtClean="0"/>
              <a:t>Un système d’architecture</a:t>
            </a:r>
          </a:p>
          <a:p>
            <a:r>
              <a:rPr lang="fr-FR" dirty="0" smtClean="0"/>
              <a:t>Une approche pour construire une application</a:t>
            </a:r>
          </a:p>
          <a:p>
            <a:pPr>
              <a:buNone/>
            </a:pPr>
            <a:endParaRPr lang="fr-FR" dirty="0" smtClean="0"/>
          </a:p>
          <a:p>
            <a:pPr>
              <a:buNone/>
            </a:pPr>
            <a:r>
              <a:rPr lang="fr-FR" dirty="0" smtClean="0">
                <a:solidFill>
                  <a:srgbClr val="FF0000"/>
                </a:solidFill>
              </a:rPr>
              <a:t>Ce qu’il n’est pas:</a:t>
            </a:r>
          </a:p>
          <a:p>
            <a:r>
              <a:rPr lang="fr-FR" dirty="0" smtClean="0"/>
              <a:t>Un protocole</a:t>
            </a:r>
          </a:p>
          <a:p>
            <a:r>
              <a:rPr lang="fr-FR" dirty="0" smtClean="0"/>
              <a:t>Un format</a:t>
            </a:r>
          </a:p>
          <a:p>
            <a:r>
              <a:rPr lang="fr-FR" dirty="0" smtClean="0"/>
              <a:t>Un standard.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59</a:t>
            </a:fld>
            <a:endParaRPr lang="fr-FR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Rest</a:t>
            </a:r>
            <a:r>
              <a:rPr lang="fr-FR" dirty="0" smtClean="0"/>
              <a:t>: fournisseurs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60</a:t>
            </a:fld>
            <a:endParaRPr lang="fr-FR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2714" y="1935163"/>
            <a:ext cx="7538572" cy="438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Rest</a:t>
            </a:r>
            <a:r>
              <a:rPr lang="fr-FR" dirty="0" smtClean="0"/>
              <a:t>: statistiques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61</a:t>
            </a:fld>
            <a:endParaRPr lang="fr-FR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5325" y="2072481"/>
            <a:ext cx="775335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Rest</a:t>
            </a:r>
            <a:r>
              <a:rPr lang="fr-FR" dirty="0" smtClean="0"/>
              <a:t>: caractéristiques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fr-FR" dirty="0" smtClean="0"/>
              <a:t>Les services </a:t>
            </a:r>
            <a:r>
              <a:rPr lang="fr-FR" dirty="0" err="1" smtClean="0"/>
              <a:t>Rest</a:t>
            </a:r>
            <a:r>
              <a:rPr lang="fr-FR" dirty="0" smtClean="0"/>
              <a:t> sont </a:t>
            </a:r>
            <a:r>
              <a:rPr lang="fr-FR" dirty="0" smtClean="0">
                <a:solidFill>
                  <a:srgbClr val="FF0000"/>
                </a:solidFill>
              </a:rPr>
              <a:t>sans état(</a:t>
            </a:r>
            <a:r>
              <a:rPr lang="fr-FR" dirty="0" err="1" smtClean="0">
                <a:solidFill>
                  <a:srgbClr val="FF0000"/>
                </a:solidFill>
              </a:rPr>
              <a:t>stateless</a:t>
            </a:r>
            <a:r>
              <a:rPr lang="fr-FR" dirty="0" smtClean="0">
                <a:solidFill>
                  <a:srgbClr val="FF0000"/>
                </a:solidFill>
              </a:rPr>
              <a:t>)</a:t>
            </a:r>
          </a:p>
          <a:p>
            <a:r>
              <a:rPr lang="fr-FR" dirty="0" smtClean="0"/>
              <a:t>Chaque requête envoyée au serveur doit contenir toutes les informations relatives à son état et est traitée indépendamment de toutes autres requête.</a:t>
            </a:r>
          </a:p>
          <a:p>
            <a:r>
              <a:rPr lang="fr-FR" dirty="0" smtClean="0"/>
              <a:t>Minimisation des ressources système(pas de gestion de session, ni d’état)</a:t>
            </a:r>
          </a:p>
          <a:p>
            <a:r>
              <a:rPr lang="fr-FR" dirty="0" smtClean="0"/>
              <a:t>Interface uniforme basée sur les méthodes HTTP(GET, POST, PUT, DELETE)</a:t>
            </a:r>
          </a:p>
          <a:p>
            <a:r>
              <a:rPr lang="fr-FR" dirty="0" smtClean="0"/>
              <a:t>Les architectures </a:t>
            </a:r>
            <a:r>
              <a:rPr lang="fr-FR" dirty="0" err="1" smtClean="0"/>
              <a:t>Restful</a:t>
            </a:r>
            <a:r>
              <a:rPr lang="fr-FR" dirty="0" smtClean="0"/>
              <a:t> sont construites à partir de ressources uniquement identifiées par des URI(s)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62</a:t>
            </a:fld>
            <a:endParaRPr lang="fr-FR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Rquêtes</a:t>
            </a:r>
            <a:r>
              <a:rPr lang="fr-FR" dirty="0" smtClean="0"/>
              <a:t> REST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>
                <a:solidFill>
                  <a:srgbClr val="FF0000"/>
                </a:solidFill>
              </a:rPr>
              <a:t>Ressources</a:t>
            </a:r>
          </a:p>
          <a:p>
            <a:pPr lvl="1"/>
            <a:r>
              <a:rPr lang="fr-FR" dirty="0" smtClean="0"/>
              <a:t>Identifiée par une URI(Uniform Resource Identifier)</a:t>
            </a:r>
          </a:p>
          <a:p>
            <a:r>
              <a:rPr lang="fr-FR" dirty="0" smtClean="0">
                <a:solidFill>
                  <a:srgbClr val="FF0000"/>
                </a:solidFill>
              </a:rPr>
              <a:t>Méthodes</a:t>
            </a:r>
            <a:r>
              <a:rPr lang="fr-FR" dirty="0" smtClean="0"/>
              <a:t> (verbes) permettant de manipuler les ressources (identifiants)</a:t>
            </a:r>
          </a:p>
          <a:p>
            <a:pPr lvl="1"/>
            <a:r>
              <a:rPr lang="fr-FR" dirty="0" smtClean="0"/>
              <a:t>Méthodes HTTP : GET, POST, PUT, DELETE</a:t>
            </a:r>
          </a:p>
          <a:p>
            <a:r>
              <a:rPr lang="fr-FR" dirty="0" smtClean="0"/>
              <a:t> </a:t>
            </a:r>
            <a:r>
              <a:rPr lang="fr-FR" dirty="0" smtClean="0">
                <a:solidFill>
                  <a:srgbClr val="FF0000"/>
                </a:solidFill>
              </a:rPr>
              <a:t>Représentation</a:t>
            </a:r>
            <a:r>
              <a:rPr lang="fr-FR" dirty="0" smtClean="0"/>
              <a:t> : Vue sur l’état de la ressource </a:t>
            </a:r>
          </a:p>
          <a:p>
            <a:pPr lvl="1"/>
            <a:r>
              <a:rPr lang="fr-FR" dirty="0" smtClean="0"/>
              <a:t>Format d’échanges entre le client et le serveur (XML, JSON, </a:t>
            </a:r>
            <a:r>
              <a:rPr lang="fr-FR" dirty="0" err="1" smtClean="0"/>
              <a:t>text</a:t>
            </a:r>
            <a:r>
              <a:rPr lang="fr-FR" dirty="0" smtClean="0"/>
              <a:t>/plain,…)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63</a:t>
            </a:fld>
            <a:endParaRPr lang="fr-FR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Ressource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Une ressource est un objet identifiable sur le système </a:t>
            </a:r>
          </a:p>
          <a:p>
            <a:pPr lvl="1"/>
            <a:r>
              <a:rPr lang="fr-FR" dirty="0" smtClean="0"/>
              <a:t> Livre, Catégorie, Client, Prêt </a:t>
            </a:r>
          </a:p>
          <a:p>
            <a:r>
              <a:rPr lang="fr-FR" dirty="0" smtClean="0"/>
              <a:t>Une ressources n’est pas forcément un objet matérialisé (Prêt, Consultation, Facture…) </a:t>
            </a:r>
          </a:p>
          <a:p>
            <a:r>
              <a:rPr lang="fr-FR" dirty="0" smtClean="0"/>
              <a:t>Une ressource est identifiée par une URI : Une URI identifie uniquement une ressource sur le système /banque/compte/1 </a:t>
            </a:r>
          </a:p>
          <a:p>
            <a:pPr>
              <a:buNone/>
            </a:pPr>
            <a:r>
              <a:rPr lang="fr-FR" dirty="0" smtClean="0"/>
              <a:t>                                       </a:t>
            </a:r>
            <a:r>
              <a:rPr lang="fr-FR" sz="1600" dirty="0" smtClean="0"/>
              <a:t>Clef primaire de la ressource dans la BDD </a:t>
            </a:r>
            <a:endParaRPr lang="fr-FR" sz="16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64</a:t>
            </a:fld>
            <a:endParaRPr lang="fr-FR"/>
          </a:p>
        </p:txBody>
      </p:sp>
      <p:sp>
        <p:nvSpPr>
          <p:cNvPr id="5" name="Flèche courbée vers la droite 4"/>
          <p:cNvSpPr/>
          <p:nvPr/>
        </p:nvSpPr>
        <p:spPr>
          <a:xfrm>
            <a:off x="3357554" y="4929198"/>
            <a:ext cx="285752" cy="428628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Les méthodes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Une ressource peut subir quatre opérations de bases CRUD correspondant aux quatre principaux types de requêtes HTTP (GET, PUT, POST, DELETE)</a:t>
            </a:r>
          </a:p>
          <a:p>
            <a:r>
              <a:rPr lang="fr-FR" dirty="0" smtClean="0"/>
              <a:t>REST s’appuie sur le protocole HTTP pour effectuer ces opérations sur les objets </a:t>
            </a:r>
          </a:p>
          <a:p>
            <a:pPr lvl="1"/>
            <a:r>
              <a:rPr lang="fr-FR" dirty="0" smtClean="0"/>
              <a:t>CREATE </a:t>
            </a:r>
            <a:r>
              <a:rPr lang="fr-FR" dirty="0" smtClean="0">
                <a:sym typeface="Wingdings" pitchFamily="2" charset="2"/>
              </a:rPr>
              <a:t></a:t>
            </a:r>
            <a:r>
              <a:rPr lang="fr-FR" dirty="0" smtClean="0"/>
              <a:t> POST</a:t>
            </a:r>
          </a:p>
          <a:p>
            <a:pPr lvl="1"/>
            <a:r>
              <a:rPr lang="fr-FR" dirty="0" smtClean="0"/>
              <a:t>RETRIEVE </a:t>
            </a:r>
            <a:r>
              <a:rPr lang="fr-FR" dirty="0" smtClean="0">
                <a:sym typeface="Wingdings" pitchFamily="2" charset="2"/>
              </a:rPr>
              <a:t></a:t>
            </a:r>
            <a:r>
              <a:rPr lang="fr-FR" dirty="0" smtClean="0"/>
              <a:t>GET </a:t>
            </a:r>
          </a:p>
          <a:p>
            <a:pPr lvl="1"/>
            <a:r>
              <a:rPr lang="fr-FR" dirty="0" smtClean="0"/>
              <a:t>UPDATE </a:t>
            </a:r>
            <a:r>
              <a:rPr lang="fr-FR" dirty="0" smtClean="0">
                <a:sym typeface="Wingdings" pitchFamily="2" charset="2"/>
              </a:rPr>
              <a:t></a:t>
            </a:r>
            <a:r>
              <a:rPr lang="fr-FR" dirty="0" smtClean="0"/>
              <a:t>PUT </a:t>
            </a:r>
          </a:p>
          <a:p>
            <a:pPr lvl="1"/>
            <a:r>
              <a:rPr lang="fr-FR" dirty="0" smtClean="0"/>
              <a:t>DELETE </a:t>
            </a:r>
            <a:r>
              <a:rPr lang="fr-FR" dirty="0" smtClean="0">
                <a:sym typeface="Wingdings" pitchFamily="2" charset="2"/>
              </a:rPr>
              <a:t></a:t>
            </a:r>
            <a:r>
              <a:rPr lang="fr-FR" dirty="0" smtClean="0"/>
              <a:t> DELETE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65</a:t>
            </a:fld>
            <a:endParaRPr lang="fr-FR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Méthode GET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66</a:t>
            </a:fld>
            <a:endParaRPr lang="fr-FR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6725" y="2315369"/>
            <a:ext cx="8210550" cy="3629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Méthode POST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67</a:t>
            </a:fld>
            <a:endParaRPr lang="fr-FR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1962" y="2282031"/>
            <a:ext cx="8220075" cy="369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Méthode DELETE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68</a:t>
            </a:fld>
            <a:endParaRPr lang="fr-FR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772816"/>
            <a:ext cx="8229600" cy="3698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Méthode PUT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69</a:t>
            </a:fld>
            <a:endParaRPr lang="fr-FR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272801"/>
            <a:ext cx="8229600" cy="37141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Reflexion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fr-FR" dirty="0" smtClean="0"/>
              <a:t>  Que se passe t il </a:t>
            </a:r>
          </a:p>
          <a:p>
            <a:r>
              <a:rPr lang="fr-FR" dirty="0" smtClean="0"/>
              <a:t>Si on fait de la lecture avec un POST ? </a:t>
            </a:r>
          </a:p>
          <a:p>
            <a:r>
              <a:rPr lang="fr-FR" dirty="0" smtClean="0"/>
              <a:t>Si on fait une mise à jour avec un DELETE ? </a:t>
            </a:r>
          </a:p>
          <a:p>
            <a:r>
              <a:rPr lang="fr-FR" dirty="0" smtClean="0"/>
              <a:t>Si on fait une suppression avec un PUT ? </a:t>
            </a:r>
          </a:p>
          <a:p>
            <a:pPr>
              <a:buNone/>
            </a:pPr>
            <a:r>
              <a:rPr lang="fr-FR" dirty="0" smtClean="0"/>
              <a:t> </a:t>
            </a:r>
          </a:p>
          <a:p>
            <a:pPr>
              <a:buNone/>
            </a:pPr>
            <a:r>
              <a:rPr lang="fr-FR" dirty="0" smtClean="0">
                <a:sym typeface="Wingdings" pitchFamily="2" charset="2"/>
              </a:rPr>
              <a:t></a:t>
            </a:r>
            <a:r>
              <a:rPr lang="fr-FR" dirty="0" smtClean="0"/>
              <a:t>REST ne l’interdit pas </a:t>
            </a:r>
          </a:p>
          <a:p>
            <a:pPr>
              <a:buNone/>
            </a:pPr>
            <a:r>
              <a:rPr lang="fr-FR" dirty="0" smtClean="0">
                <a:sym typeface="Wingdings" pitchFamily="2" charset="2"/>
              </a:rPr>
              <a:t></a:t>
            </a:r>
            <a:r>
              <a:rPr lang="fr-FR" dirty="0" smtClean="0"/>
              <a:t> Mais si vous le faites, votre application ne respecte pas les exigences REST et donc n’est pas </a:t>
            </a:r>
            <a:r>
              <a:rPr lang="fr-FR" dirty="0" err="1" smtClean="0"/>
              <a:t>RESTFul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70</a:t>
            </a:fld>
            <a:endParaRPr lang="fr-FR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Représentation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 smtClean="0"/>
              <a:t>Une représentation désigne les données échangées entre le client et le serveur pour une ressource: </a:t>
            </a:r>
          </a:p>
          <a:p>
            <a:pPr lvl="1"/>
            <a:r>
              <a:rPr lang="fr-FR" dirty="0" smtClean="0"/>
              <a:t>  HTTP GET </a:t>
            </a:r>
            <a:r>
              <a:rPr lang="fr-FR" dirty="0" smtClean="0">
                <a:sym typeface="Wingdings" pitchFamily="2" charset="2"/>
              </a:rPr>
              <a:t></a:t>
            </a:r>
            <a:r>
              <a:rPr lang="fr-FR" dirty="0" smtClean="0"/>
              <a:t> Le serveur renvoie au client l’état de la ressource </a:t>
            </a:r>
          </a:p>
          <a:p>
            <a:pPr lvl="1"/>
            <a:r>
              <a:rPr lang="fr-FR" dirty="0" smtClean="0"/>
              <a:t> </a:t>
            </a:r>
            <a:r>
              <a:rPr lang="fr-FR" dirty="0" err="1" smtClean="0"/>
              <a:t>Patch,PUT</a:t>
            </a:r>
            <a:r>
              <a:rPr lang="fr-FR" dirty="0" smtClean="0"/>
              <a:t>, POST </a:t>
            </a:r>
            <a:r>
              <a:rPr lang="fr-FR" dirty="0" smtClean="0">
                <a:sym typeface="Wingdings" pitchFamily="2" charset="2"/>
              </a:rPr>
              <a:t></a:t>
            </a:r>
            <a:r>
              <a:rPr lang="fr-FR" dirty="0" smtClean="0"/>
              <a:t>Le client envoie l’état d’une ressource au serveur </a:t>
            </a:r>
          </a:p>
          <a:p>
            <a:pPr>
              <a:buNone/>
            </a:pPr>
            <a:r>
              <a:rPr lang="fr-FR" dirty="0" smtClean="0"/>
              <a:t>  Peut être sous différent format :</a:t>
            </a:r>
          </a:p>
          <a:p>
            <a:pPr lvl="1"/>
            <a:r>
              <a:rPr lang="fr-FR" dirty="0" smtClean="0"/>
              <a:t> JSON </a:t>
            </a:r>
          </a:p>
          <a:p>
            <a:pPr lvl="1"/>
            <a:r>
              <a:rPr lang="fr-FR" dirty="0" smtClean="0"/>
              <a:t> XML</a:t>
            </a:r>
          </a:p>
          <a:p>
            <a:pPr lvl="1"/>
            <a:r>
              <a:rPr lang="fr-FR" dirty="0" smtClean="0"/>
              <a:t> XHTML </a:t>
            </a:r>
          </a:p>
          <a:p>
            <a:pPr lvl="1"/>
            <a:r>
              <a:rPr lang="fr-FR" dirty="0" smtClean="0"/>
              <a:t> </a:t>
            </a:r>
            <a:r>
              <a:rPr lang="fr-FR" dirty="0" err="1" smtClean="0"/>
              <a:t>Text</a:t>
            </a:r>
            <a:r>
              <a:rPr lang="fr-FR" dirty="0" smtClean="0"/>
              <a:t>/plain  </a:t>
            </a:r>
          </a:p>
          <a:p>
            <a:pPr lvl="1"/>
            <a:r>
              <a:rPr lang="fr-FR" dirty="0" smtClean="0"/>
              <a:t>…..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71</a:t>
            </a:fld>
            <a:endParaRPr lang="fr-FR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WADL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fr-FR" dirty="0" smtClean="0"/>
              <a:t>  Web Application Description </a:t>
            </a:r>
            <a:r>
              <a:rPr lang="fr-FR" dirty="0" err="1" smtClean="0"/>
              <a:t>Language</a:t>
            </a:r>
            <a:endParaRPr lang="fr-FR" dirty="0" smtClean="0"/>
          </a:p>
          <a:p>
            <a:r>
              <a:rPr lang="fr-FR" dirty="0" smtClean="0"/>
              <a:t> Standard du W3C </a:t>
            </a:r>
          </a:p>
          <a:p>
            <a:r>
              <a:rPr lang="fr-FR" dirty="0" smtClean="0"/>
              <a:t>Permet de décrire les éléments des services</a:t>
            </a:r>
          </a:p>
          <a:p>
            <a:pPr lvl="1"/>
            <a:r>
              <a:rPr lang="fr-FR" dirty="0" smtClean="0"/>
              <a:t> Resource, Méthode, Paramètre, Réponse </a:t>
            </a:r>
          </a:p>
          <a:p>
            <a:r>
              <a:rPr lang="fr-FR" dirty="0" smtClean="0"/>
              <a:t>Permet d’interagir de manière dynamique avec les applications REST </a:t>
            </a:r>
          </a:p>
          <a:p>
            <a:pPr>
              <a:buNone/>
            </a:pPr>
            <a:r>
              <a:rPr lang="fr-FR" dirty="0" smtClean="0"/>
              <a:t> </a:t>
            </a:r>
          </a:p>
          <a:p>
            <a:pPr>
              <a:buNone/>
            </a:pPr>
            <a:r>
              <a:rPr lang="fr-FR" dirty="0" smtClean="0">
                <a:sym typeface="Wingdings" pitchFamily="2" charset="2"/>
              </a:rPr>
              <a:t></a:t>
            </a:r>
            <a:r>
              <a:rPr lang="fr-FR" dirty="0" smtClean="0">
                <a:solidFill>
                  <a:srgbClr val="FF0000"/>
                </a:solidFill>
              </a:rPr>
              <a:t>Moins exploité que le WSDL pour les Services SOAP 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72</a:t>
            </a:fld>
            <a:endParaRPr lang="fr-FR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RESTful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73</a:t>
            </a:fld>
            <a:endParaRPr lang="fr-FR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0100" y="3000372"/>
            <a:ext cx="7394121" cy="3357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ZoneTexte 5"/>
          <p:cNvSpPr txBox="1"/>
          <p:nvPr/>
        </p:nvSpPr>
        <p:spPr>
          <a:xfrm>
            <a:off x="1071538" y="2285992"/>
            <a:ext cx="7286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>
                <a:solidFill>
                  <a:srgbClr val="FF0000"/>
                </a:solidFill>
              </a:rPr>
              <a:t>WADL</a:t>
            </a:r>
            <a:r>
              <a:rPr lang="fr-FR" dirty="0" smtClean="0"/>
              <a:t>: </a:t>
            </a:r>
            <a:r>
              <a:rPr lang="fr-FR" sz="2400" dirty="0" smtClean="0"/>
              <a:t>Web Application Description </a:t>
            </a:r>
            <a:r>
              <a:rPr lang="fr-FR" sz="2400" dirty="0" err="1" smtClean="0"/>
              <a:t>Language</a:t>
            </a:r>
            <a:endParaRPr lang="fr-FR" sz="24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Règles de </a:t>
            </a:r>
            <a:r>
              <a:rPr lang="fr-FR" dirty="0" err="1" smtClean="0"/>
              <a:t>Restful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fr-FR" sz="1800" b="1" dirty="0" smtClean="0"/>
              <a:t>Règle n°1:</a:t>
            </a:r>
          </a:p>
          <a:p>
            <a:r>
              <a:rPr lang="fr-FR" sz="1800" dirty="0" smtClean="0"/>
              <a:t>L’URI comme identifiant des ressources:</a:t>
            </a:r>
          </a:p>
          <a:p>
            <a:pPr lvl="1"/>
            <a:r>
              <a:rPr lang="fr-FR" sz="1800" dirty="0" smtClean="0"/>
              <a:t>Respecter un standard pour construire les </a:t>
            </a:r>
            <a:r>
              <a:rPr lang="fr-FR" sz="1800" smtClean="0"/>
              <a:t>URIs</a:t>
            </a:r>
            <a:endParaRPr lang="fr-FR" sz="1800" dirty="0" smtClean="0"/>
          </a:p>
          <a:p>
            <a:pPr>
              <a:buNone/>
            </a:pPr>
            <a:r>
              <a:rPr lang="fr-FR" sz="1800" b="1" dirty="0" smtClean="0"/>
              <a:t>Règle n°2:</a:t>
            </a:r>
          </a:p>
          <a:p>
            <a:r>
              <a:rPr lang="fr-FR" sz="1800" dirty="0" smtClean="0"/>
              <a:t>Les méthodes HTTP comme identifiant des opérations:</a:t>
            </a:r>
          </a:p>
          <a:p>
            <a:pPr lvl="1"/>
            <a:r>
              <a:rPr lang="fr-FR" sz="1800" dirty="0" smtClean="0"/>
              <a:t>Post: pour ajouter (</a:t>
            </a:r>
            <a:r>
              <a:rPr lang="fr-FR" sz="1800" dirty="0" err="1" smtClean="0"/>
              <a:t>create</a:t>
            </a:r>
            <a:r>
              <a:rPr lang="fr-FR" sz="1800" dirty="0" smtClean="0"/>
              <a:t>)</a:t>
            </a:r>
          </a:p>
          <a:p>
            <a:pPr lvl="1"/>
            <a:r>
              <a:rPr lang="fr-FR" sz="1800" dirty="0" err="1" smtClean="0"/>
              <a:t>Get</a:t>
            </a:r>
            <a:r>
              <a:rPr lang="fr-FR" sz="1800" dirty="0" smtClean="0"/>
              <a:t>: pour consulter (Read)</a:t>
            </a:r>
          </a:p>
          <a:p>
            <a:pPr lvl="1"/>
            <a:r>
              <a:rPr lang="fr-FR" sz="1800" dirty="0" err="1" smtClean="0"/>
              <a:t>Put,Patch</a:t>
            </a:r>
            <a:r>
              <a:rPr lang="fr-FR" sz="1800" dirty="0" smtClean="0"/>
              <a:t>: pour mise à jour (Update)</a:t>
            </a:r>
          </a:p>
          <a:p>
            <a:pPr lvl="1"/>
            <a:r>
              <a:rPr lang="fr-FR" sz="1800" dirty="0" err="1" smtClean="0"/>
              <a:t>Delete</a:t>
            </a:r>
            <a:r>
              <a:rPr lang="fr-FR" sz="1800" dirty="0" smtClean="0"/>
              <a:t>: pour supprimer (</a:t>
            </a:r>
            <a:r>
              <a:rPr lang="fr-FR" sz="1800" dirty="0" err="1" smtClean="0"/>
              <a:t>Delete</a:t>
            </a:r>
            <a:r>
              <a:rPr lang="fr-FR" sz="1800" dirty="0" smtClean="0"/>
              <a:t>)</a:t>
            </a:r>
          </a:p>
          <a:p>
            <a:pPr>
              <a:buNone/>
            </a:pPr>
            <a:r>
              <a:rPr lang="fr-FR" sz="1800" b="1" dirty="0" smtClean="0"/>
              <a:t>Règle n°3:</a:t>
            </a:r>
          </a:p>
          <a:p>
            <a:r>
              <a:rPr lang="fr-FR" sz="1800" dirty="0" smtClean="0"/>
              <a:t>Les réponse http comme représentation des ressources</a:t>
            </a:r>
          </a:p>
          <a:p>
            <a:pPr lvl="1"/>
            <a:r>
              <a:rPr lang="fr-FR" sz="1600" dirty="0" smtClean="0"/>
              <a:t>Réponses http en différents formats(XML, JSON,…)en fonction de la demande du client.</a:t>
            </a:r>
          </a:p>
          <a:p>
            <a:pPr>
              <a:buNone/>
            </a:pPr>
            <a:r>
              <a:rPr lang="fr-FR" sz="1800" b="1" dirty="0" smtClean="0"/>
              <a:t>Règle n°4:</a:t>
            </a:r>
          </a:p>
          <a:p>
            <a:r>
              <a:rPr lang="fr-FR" sz="1800" dirty="0" smtClean="0"/>
              <a:t>Les liens comme relation entre ressources</a:t>
            </a:r>
          </a:p>
          <a:p>
            <a:pPr lvl="1"/>
            <a:r>
              <a:rPr lang="fr-FR" sz="1600" dirty="0" smtClean="0"/>
              <a:t>&lt;a </a:t>
            </a:r>
            <a:r>
              <a:rPr lang="fr-FR" sz="1600" dirty="0" err="1" smtClean="0"/>
              <a:t>href</a:t>
            </a:r>
            <a:r>
              <a:rPr lang="fr-FR" sz="1600" dirty="0" smtClean="0"/>
              <a:t>=« … » </a:t>
            </a:r>
            <a:r>
              <a:rPr lang="fr-FR" sz="1600" dirty="0" err="1" smtClean="0"/>
              <a:t>rel</a:t>
            </a:r>
            <a:r>
              <a:rPr lang="fr-FR" sz="1600" dirty="0" smtClean="0"/>
              <a:t>=« </a:t>
            </a:r>
            <a:r>
              <a:rPr lang="fr-FR" sz="1600" dirty="0" err="1" smtClean="0"/>
              <a:t>payment</a:t>
            </a:r>
            <a:r>
              <a:rPr lang="fr-FR" sz="1600" dirty="0" smtClean="0"/>
              <a:t> »&gt; effectuer un payement&lt;/a&gt;</a:t>
            </a:r>
          </a:p>
          <a:p>
            <a:pPr>
              <a:buNone/>
            </a:pPr>
            <a:r>
              <a:rPr lang="fr-FR" sz="1800" b="1" dirty="0" smtClean="0"/>
              <a:t>Règle n°5:</a:t>
            </a:r>
          </a:p>
          <a:p>
            <a:r>
              <a:rPr lang="fr-FR" sz="1800" dirty="0" smtClean="0"/>
              <a:t>Un paramètre comme jeton d’authentification:</a:t>
            </a:r>
          </a:p>
          <a:p>
            <a:pPr lvl="1"/>
            <a:r>
              <a:rPr lang="fr-FR" sz="1600" dirty="0" smtClean="0"/>
              <a:t>Envoyer un jeton d’authentification différent pour chaque requête.</a:t>
            </a:r>
          </a:p>
          <a:p>
            <a:pPr lvl="1"/>
            <a:endParaRPr lang="fr-FR" sz="1600" dirty="0" smtClean="0"/>
          </a:p>
          <a:p>
            <a:pPr lvl="1"/>
            <a:endParaRPr lang="fr-FR" sz="1600" dirty="0" smtClean="0"/>
          </a:p>
          <a:p>
            <a:endParaRPr lang="fr-FR" sz="1800" dirty="0" smtClean="0"/>
          </a:p>
          <a:p>
            <a:endParaRPr lang="fr-FR" sz="1800" dirty="0" smtClean="0"/>
          </a:p>
          <a:p>
            <a:pPr lvl="1"/>
            <a:endParaRPr lang="fr-FR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74</a:t>
            </a:fld>
            <a:endParaRPr lang="fr-FR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JSON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JSON</a:t>
            </a:r>
            <a:r>
              <a:rPr lang="fr-FR" dirty="0" smtClean="0"/>
              <a:t> « </a:t>
            </a:r>
            <a:r>
              <a:rPr lang="fr-FR" dirty="0" smtClean="0">
                <a:solidFill>
                  <a:srgbClr val="FF0000"/>
                </a:solidFill>
              </a:rPr>
              <a:t>J</a:t>
            </a:r>
            <a:r>
              <a:rPr lang="fr-FR" dirty="0" smtClean="0"/>
              <a:t>avaScript </a:t>
            </a:r>
            <a:r>
              <a:rPr lang="fr-FR" dirty="0" smtClean="0">
                <a:solidFill>
                  <a:srgbClr val="FF0000"/>
                </a:solidFill>
              </a:rPr>
              <a:t>O</a:t>
            </a:r>
            <a:r>
              <a:rPr lang="fr-FR" dirty="0" smtClean="0"/>
              <a:t>bject </a:t>
            </a:r>
            <a:r>
              <a:rPr lang="fr-FR" dirty="0" smtClean="0">
                <a:solidFill>
                  <a:srgbClr val="FF0000"/>
                </a:solidFill>
              </a:rPr>
              <a:t>N</a:t>
            </a:r>
            <a:r>
              <a:rPr lang="fr-FR" dirty="0" smtClean="0"/>
              <a:t>otation » est un format d’échange de données, facile à lire par un humain et interpréter par une machine. </a:t>
            </a:r>
          </a:p>
          <a:p>
            <a:r>
              <a:rPr lang="fr-FR" dirty="0" smtClean="0"/>
              <a:t>Basé sur JavaScript, il est complètement indépendant des langages de programmation mais utilise des conventions qui sont communes </a:t>
            </a:r>
            <a:r>
              <a:rPr lang="fr-FR" smtClean="0"/>
              <a:t>à tous </a:t>
            </a:r>
            <a:r>
              <a:rPr lang="fr-FR" dirty="0" smtClean="0"/>
              <a:t>les langages de programmation (C, C++, Perl, Python, Java, C#, VB, JavaScript,….) </a:t>
            </a:r>
          </a:p>
          <a:p>
            <a:r>
              <a:rPr lang="fr-FR" dirty="0" smtClean="0"/>
              <a:t>Deux structures : </a:t>
            </a:r>
          </a:p>
          <a:p>
            <a:pPr lvl="1"/>
            <a:r>
              <a:rPr lang="fr-FR" dirty="0" smtClean="0"/>
              <a:t> Une collection de clefs/valeurs </a:t>
            </a:r>
            <a:r>
              <a:rPr lang="fr-FR" dirty="0" smtClean="0">
                <a:sym typeface="Wingdings" pitchFamily="2" charset="2"/>
              </a:rPr>
              <a:t></a:t>
            </a:r>
            <a:r>
              <a:rPr lang="fr-FR" dirty="0" smtClean="0"/>
              <a:t>Object </a:t>
            </a:r>
          </a:p>
          <a:p>
            <a:pPr lvl="1"/>
            <a:r>
              <a:rPr lang="fr-FR" dirty="0" smtClean="0"/>
              <a:t> Une collection ordonnée d’objets </a:t>
            </a:r>
            <a:r>
              <a:rPr lang="fr-FR" dirty="0" smtClean="0">
                <a:sym typeface="Wingdings" pitchFamily="2" charset="2"/>
              </a:rPr>
              <a:t></a:t>
            </a:r>
            <a:r>
              <a:rPr lang="fr-FR" dirty="0" err="1" smtClean="0"/>
              <a:t>Array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75</a:t>
            </a:fld>
            <a:endParaRPr lang="fr-FR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JSON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1707834"/>
          </a:xfrm>
        </p:spPr>
        <p:txBody>
          <a:bodyPr/>
          <a:lstStyle/>
          <a:p>
            <a:r>
              <a:rPr lang="fr-FR" dirty="0" smtClean="0">
                <a:solidFill>
                  <a:srgbClr val="FF0000"/>
                </a:solidFill>
              </a:rPr>
              <a:t>Objet </a:t>
            </a:r>
            <a:r>
              <a:rPr lang="fr-FR" dirty="0" smtClean="0"/>
              <a:t>Commence par un « { » et se termine par « } » et composé d’une liste non ordonnée de paire clefs/ valeurs. Une clef est suivie de « : » et les paires clef/ valeur sont séparés par « , » 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76</a:t>
            </a:fld>
            <a:endParaRPr lang="fr-FR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786" y="3643314"/>
            <a:ext cx="7572428" cy="2786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JSON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1279206"/>
          </a:xfrm>
        </p:spPr>
        <p:txBody>
          <a:bodyPr>
            <a:normAutofit lnSpcReduction="10000"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ARRAY</a:t>
            </a:r>
            <a:r>
              <a:rPr lang="fr-FR" dirty="0" smtClean="0"/>
              <a:t> Liste ordonnée d’objets commençant par « [« et se terminant par « ] », les objets sont séparés l’un de l’autre par « , ».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77</a:t>
            </a:fld>
            <a:endParaRPr lang="fr-FR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8662" y="3857628"/>
            <a:ext cx="4200525" cy="157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86380" y="3000372"/>
            <a:ext cx="3376608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JSON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1350644"/>
          </a:xfrm>
        </p:spPr>
        <p:txBody>
          <a:bodyPr/>
          <a:lstStyle/>
          <a:p>
            <a:r>
              <a:rPr lang="fr-FR" dirty="0" smtClean="0">
                <a:solidFill>
                  <a:srgbClr val="FF0000"/>
                </a:solidFill>
              </a:rPr>
              <a:t>Value</a:t>
            </a:r>
            <a:r>
              <a:rPr lang="fr-FR" dirty="0" smtClean="0"/>
              <a:t> Un objet peut être soit un string entre « ""» ou un nombre (entier, décimal) ou un </a:t>
            </a:r>
            <a:r>
              <a:rPr lang="fr-FR" dirty="0" err="1" smtClean="0"/>
              <a:t>boolean</a:t>
            </a:r>
            <a:r>
              <a:rPr lang="fr-FR" dirty="0" smtClean="0"/>
              <a:t> (</a:t>
            </a:r>
            <a:r>
              <a:rPr lang="fr-FR" dirty="0" err="1" smtClean="0"/>
              <a:t>true</a:t>
            </a:r>
            <a:r>
              <a:rPr lang="fr-FR" dirty="0" smtClean="0"/>
              <a:t>, false) ou </a:t>
            </a:r>
            <a:r>
              <a:rPr lang="fr-FR" dirty="0" err="1" smtClean="0"/>
              <a:t>null</a:t>
            </a:r>
            <a:r>
              <a:rPr lang="fr-FR" dirty="0" smtClean="0"/>
              <a:t> ou un objet.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78</a:t>
            </a:fld>
            <a:endParaRPr lang="fr-FR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7290" y="3357562"/>
            <a:ext cx="6029325" cy="3028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1472" y="2714620"/>
            <a:ext cx="83058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/>
              <a:t>Développer des Web Services REST avec JAVA </a:t>
            </a:r>
            <a:endParaRPr lang="fr-FR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79</a:t>
            </a:fld>
            <a:endParaRPr lang="fr-FR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JAX-RS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Acronyme de Java API for </a:t>
            </a:r>
            <a:r>
              <a:rPr lang="fr-FR" dirty="0" err="1" smtClean="0"/>
              <a:t>RestFul</a:t>
            </a:r>
            <a:r>
              <a:rPr lang="fr-FR" dirty="0" smtClean="0"/>
              <a:t> Web Services </a:t>
            </a:r>
          </a:p>
          <a:p>
            <a:r>
              <a:rPr lang="fr-FR" dirty="0" smtClean="0"/>
              <a:t>Version </a:t>
            </a:r>
            <a:r>
              <a:rPr lang="fr-FR" smtClean="0"/>
              <a:t>courante 3.1 </a:t>
            </a:r>
            <a:r>
              <a:rPr lang="fr-FR" dirty="0" smtClean="0"/>
              <a:t>décrite par JSR 339 </a:t>
            </a:r>
          </a:p>
          <a:p>
            <a:r>
              <a:rPr lang="fr-FR" dirty="0" smtClean="0"/>
              <a:t>Depuis la version 1.1, il fait partie intégrante de la spécification Java EE 6 </a:t>
            </a:r>
          </a:p>
          <a:p>
            <a:r>
              <a:rPr lang="fr-FR" dirty="0" smtClean="0"/>
              <a:t>Décrit la mise en œuvre des services REST web coté serveur </a:t>
            </a:r>
          </a:p>
          <a:p>
            <a:r>
              <a:rPr lang="fr-FR" dirty="0" smtClean="0"/>
              <a:t> Son architecture se repose sur l’utilisation des classes et des annotations pour développer les services web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80</a:t>
            </a:fld>
            <a:endParaRPr lang="fr-FR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JAX-RS </a:t>
            </a:r>
            <a:r>
              <a:rPr lang="fr-FR" dirty="0" smtClean="0">
                <a:sym typeface="Wingdings" pitchFamily="2" charset="2"/>
              </a:rPr>
              <a:t></a:t>
            </a:r>
            <a:r>
              <a:rPr lang="fr-FR" dirty="0" smtClean="0"/>
              <a:t>Implémentation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JAX-RS est une spécification et autour de cette spécification sont développés plusieurs implémentations </a:t>
            </a:r>
          </a:p>
          <a:p>
            <a:pPr lvl="1"/>
            <a:r>
              <a:rPr lang="fr-FR" dirty="0" smtClean="0"/>
              <a:t>JERSEY : implémentation de référence fournie par Oracle ( </a:t>
            </a:r>
            <a:r>
              <a:rPr lang="fr-FR" dirty="0" smtClean="0">
                <a:solidFill>
                  <a:srgbClr val="FF0000"/>
                </a:solidFill>
              </a:rPr>
              <a:t>http://jersey.java.net </a:t>
            </a:r>
            <a:r>
              <a:rPr lang="fr-FR" dirty="0" smtClean="0"/>
              <a:t>) </a:t>
            </a:r>
          </a:p>
          <a:p>
            <a:pPr lvl="1"/>
            <a:r>
              <a:rPr lang="fr-FR" dirty="0" smtClean="0"/>
              <a:t>CXF : Fournie par Apache ( http://cfx.apache.org )</a:t>
            </a:r>
          </a:p>
          <a:p>
            <a:pPr lvl="1"/>
            <a:r>
              <a:rPr lang="fr-FR" dirty="0" err="1" smtClean="0"/>
              <a:t>RESTEasy</a:t>
            </a:r>
            <a:r>
              <a:rPr lang="fr-FR" dirty="0" smtClean="0"/>
              <a:t> : fournie par JBOSS </a:t>
            </a:r>
          </a:p>
          <a:p>
            <a:pPr lvl="1"/>
            <a:r>
              <a:rPr lang="fr-FR" dirty="0" smtClean="0"/>
              <a:t> RESTLET : L’un des premiers </a:t>
            </a:r>
            <a:r>
              <a:rPr lang="fr-FR" dirty="0" err="1" smtClean="0"/>
              <a:t>framework</a:t>
            </a:r>
            <a:r>
              <a:rPr lang="fr-FR" dirty="0" smtClean="0"/>
              <a:t> implémentant REST pour Java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81</a:t>
            </a:fld>
            <a:endParaRPr lang="fr-FR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JERSEY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Version actuelle 3 implémentant les spécifications de JAX-RS 3.0</a:t>
            </a:r>
          </a:p>
          <a:p>
            <a:r>
              <a:rPr lang="fr-FR" dirty="0" smtClean="0"/>
              <a:t> Intégré dans </a:t>
            </a:r>
            <a:r>
              <a:rPr lang="fr-FR" dirty="0" err="1" smtClean="0"/>
              <a:t>Glassfish</a:t>
            </a:r>
            <a:r>
              <a:rPr lang="fr-FR" dirty="0" smtClean="0"/>
              <a:t> et l’implémentation Java EE (6,7) </a:t>
            </a:r>
          </a:p>
          <a:p>
            <a:r>
              <a:rPr lang="fr-FR" dirty="0" smtClean="0"/>
              <a:t> Supportés dans </a:t>
            </a:r>
            <a:r>
              <a:rPr lang="fr-FR" dirty="0" err="1" smtClean="0"/>
              <a:t>Netbeans</a:t>
            </a:r>
            <a:r>
              <a:rPr lang="fr-FR" dirty="0" smtClean="0"/>
              <a:t>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82</a:t>
            </a:fld>
            <a:endParaRPr lang="fr-FR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JAX-RS : Développement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Basé sur POJO (Plain </a:t>
            </a:r>
            <a:r>
              <a:rPr lang="fr-FR" dirty="0" err="1" smtClean="0"/>
              <a:t>Old</a:t>
            </a:r>
            <a:r>
              <a:rPr lang="fr-FR" dirty="0" smtClean="0"/>
              <a:t> Java Object) en utilisant des annotations spécifiques JAX-RS</a:t>
            </a:r>
          </a:p>
          <a:p>
            <a:r>
              <a:rPr lang="fr-FR" dirty="0" smtClean="0"/>
              <a:t>Pas de modifications dans les fichiers de configuration</a:t>
            </a:r>
          </a:p>
          <a:p>
            <a:r>
              <a:rPr lang="fr-FR" dirty="0" smtClean="0"/>
              <a:t>Le service est déployé dans une application web </a:t>
            </a:r>
          </a:p>
          <a:p>
            <a:r>
              <a:rPr lang="fr-FR" dirty="0" smtClean="0"/>
              <a:t>Pas de possibilité de développer le service à partir d’un WADL contrairement à SOAP </a:t>
            </a:r>
          </a:p>
          <a:p>
            <a:r>
              <a:rPr lang="fr-FR" dirty="0" smtClean="0"/>
              <a:t> Approche </a:t>
            </a:r>
            <a:r>
              <a:rPr lang="fr-FR" dirty="0" err="1" smtClean="0"/>
              <a:t>Bottom</a:t>
            </a:r>
            <a:r>
              <a:rPr lang="fr-FR" dirty="0" smtClean="0"/>
              <a:t>/Up </a:t>
            </a:r>
          </a:p>
          <a:p>
            <a:pPr lvl="1"/>
            <a:r>
              <a:rPr lang="fr-FR" dirty="0" smtClean="0"/>
              <a:t> Développer et annoter les classes </a:t>
            </a:r>
          </a:p>
          <a:p>
            <a:pPr lvl="1"/>
            <a:r>
              <a:rPr lang="fr-FR" dirty="0" smtClean="0"/>
              <a:t> Le WADL est automatiquement généré par l’API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83</a:t>
            </a:fld>
            <a:endParaRPr lang="fr-FR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Annotation JAX-RS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La spécification JAX-RS dispose d’un ensemble d’annotation permettant d’exposer une classe java dans un services web :</a:t>
            </a:r>
          </a:p>
          <a:p>
            <a:pPr lvl="1"/>
            <a:r>
              <a:rPr lang="fr-FR" dirty="0" smtClean="0"/>
              <a:t>@</a:t>
            </a:r>
            <a:r>
              <a:rPr lang="fr-FR" dirty="0" err="1" smtClean="0"/>
              <a:t>Path</a:t>
            </a:r>
            <a:r>
              <a:rPr lang="fr-FR" dirty="0" smtClean="0"/>
              <a:t> </a:t>
            </a:r>
          </a:p>
          <a:p>
            <a:pPr lvl="1"/>
            <a:r>
              <a:rPr lang="fr-FR" dirty="0" smtClean="0"/>
              <a:t>@GET, @POST, @PUT, @DELETE </a:t>
            </a:r>
          </a:p>
          <a:p>
            <a:pPr lvl="1"/>
            <a:r>
              <a:rPr lang="fr-FR" dirty="0" smtClean="0"/>
              <a:t>@</a:t>
            </a:r>
            <a:r>
              <a:rPr lang="fr-FR" dirty="0" err="1" smtClean="0"/>
              <a:t>Produces</a:t>
            </a:r>
            <a:r>
              <a:rPr lang="fr-FR" dirty="0" smtClean="0"/>
              <a:t>, @Consumes</a:t>
            </a:r>
          </a:p>
          <a:p>
            <a:pPr lvl="1"/>
            <a:r>
              <a:rPr lang="fr-FR" dirty="0" smtClean="0"/>
              <a:t>@</a:t>
            </a:r>
            <a:r>
              <a:rPr lang="fr-FR" dirty="0" err="1" smtClean="0"/>
              <a:t>PathParam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84</a:t>
            </a:fld>
            <a:endParaRPr lang="fr-FR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Modéliser les </a:t>
            </a:r>
            <a:r>
              <a:rPr lang="fr-FR" dirty="0" err="1" smtClean="0"/>
              <a:t>URIs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2350776"/>
          </a:xfrm>
        </p:spPr>
        <p:txBody>
          <a:bodyPr/>
          <a:lstStyle/>
          <a:p>
            <a:r>
              <a:rPr lang="fr-FR" dirty="0" err="1" smtClean="0"/>
              <a:t>URIs</a:t>
            </a:r>
            <a:r>
              <a:rPr lang="fr-FR" dirty="0" smtClean="0"/>
              <a:t> sont déterminés par l’annotation @</a:t>
            </a:r>
            <a:r>
              <a:rPr lang="fr-FR" dirty="0" err="1" smtClean="0"/>
              <a:t>Path</a:t>
            </a:r>
            <a:r>
              <a:rPr lang="fr-FR" dirty="0" smtClean="0"/>
              <a:t> </a:t>
            </a:r>
          </a:p>
          <a:p>
            <a:r>
              <a:rPr lang="fr-FR" dirty="0" smtClean="0"/>
              <a:t>Permet d’exposer une classe dans le WS</a:t>
            </a:r>
          </a:p>
          <a:p>
            <a:r>
              <a:rPr lang="fr-FR" dirty="0" smtClean="0"/>
              <a:t>Définit la racine des ressources (</a:t>
            </a:r>
            <a:r>
              <a:rPr lang="fr-FR" dirty="0" err="1" smtClean="0"/>
              <a:t>Root</a:t>
            </a:r>
            <a:r>
              <a:rPr lang="fr-FR" dirty="0" smtClean="0"/>
              <a:t> Racine Ressources) </a:t>
            </a:r>
          </a:p>
          <a:p>
            <a:r>
              <a:rPr lang="fr-FR" dirty="0" smtClean="0"/>
              <a:t>Sa valeur correspond à l’URI relative de la ressource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85</a:t>
            </a:fld>
            <a:endParaRPr lang="fr-FR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48" y="4643446"/>
            <a:ext cx="3714750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4500570"/>
            <a:ext cx="4019550" cy="183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URIs</a:t>
            </a:r>
            <a:r>
              <a:rPr lang="fr-FR" dirty="0" smtClean="0"/>
              <a:t> des méthodes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1850710"/>
          </a:xfrm>
        </p:spPr>
        <p:txBody>
          <a:bodyPr/>
          <a:lstStyle/>
          <a:p>
            <a:r>
              <a:rPr lang="fr-FR" dirty="0" smtClean="0"/>
              <a:t>@</a:t>
            </a:r>
            <a:r>
              <a:rPr lang="fr-FR" dirty="0" err="1" smtClean="0"/>
              <a:t>Path</a:t>
            </a:r>
            <a:r>
              <a:rPr lang="fr-FR" dirty="0" smtClean="0"/>
              <a:t> peut être utilisée pour annoter des méthodes d’une classe</a:t>
            </a:r>
          </a:p>
          <a:p>
            <a:r>
              <a:rPr lang="fr-FR" dirty="0" smtClean="0"/>
              <a:t>L’URI résultante est la concaténation entre le valeur de @</a:t>
            </a:r>
            <a:r>
              <a:rPr lang="fr-FR" dirty="0" err="1" smtClean="0"/>
              <a:t>Path</a:t>
            </a:r>
            <a:r>
              <a:rPr lang="fr-FR" dirty="0" smtClean="0"/>
              <a:t> de la classe et celle de la méthode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86</a:t>
            </a:fld>
            <a:endParaRPr lang="fr-FR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00166" y="3643314"/>
            <a:ext cx="4638675" cy="244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86314" y="6215082"/>
            <a:ext cx="3743325" cy="20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URIs</a:t>
            </a:r>
            <a:r>
              <a:rPr lang="fr-FR" dirty="0" smtClean="0"/>
              <a:t> dynamiques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3065156"/>
          </a:xfrm>
        </p:spPr>
        <p:txBody>
          <a:bodyPr>
            <a:normAutofit lnSpcReduction="10000"/>
          </a:bodyPr>
          <a:lstStyle/>
          <a:p>
            <a:r>
              <a:rPr lang="fr-FR" dirty="0" smtClean="0"/>
              <a:t>La valeur définie dans l’annotation @</a:t>
            </a:r>
            <a:r>
              <a:rPr lang="fr-FR" dirty="0" err="1" smtClean="0"/>
              <a:t>Path</a:t>
            </a:r>
            <a:r>
              <a:rPr lang="fr-FR" dirty="0" smtClean="0"/>
              <a:t> n’est forcément un constante, elle peut être variable. </a:t>
            </a:r>
          </a:p>
          <a:p>
            <a:r>
              <a:rPr lang="fr-FR" dirty="0" smtClean="0"/>
              <a:t>Possibilité de définir des expressions plus complexes, appelées Template </a:t>
            </a:r>
            <a:r>
              <a:rPr lang="fr-FR" dirty="0" err="1" smtClean="0"/>
              <a:t>Parameters</a:t>
            </a:r>
            <a:r>
              <a:rPr lang="fr-FR" dirty="0" smtClean="0"/>
              <a:t> </a:t>
            </a:r>
          </a:p>
          <a:p>
            <a:r>
              <a:rPr lang="fr-FR" dirty="0" smtClean="0"/>
              <a:t>Les contenus complexes sont délimités par « {} »</a:t>
            </a:r>
          </a:p>
          <a:p>
            <a:r>
              <a:rPr lang="fr-FR" dirty="0" smtClean="0"/>
              <a:t>Possibilité de mixer dans la valeur @</a:t>
            </a:r>
            <a:r>
              <a:rPr lang="fr-FR" dirty="0" err="1" smtClean="0"/>
              <a:t>Path</a:t>
            </a:r>
            <a:r>
              <a:rPr lang="fr-FR" dirty="0" smtClean="0"/>
              <a:t> des expressions régulières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87</a:t>
            </a:fld>
            <a:endParaRPr lang="fr-FR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00166" y="4786322"/>
            <a:ext cx="5848350" cy="169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URIs</a:t>
            </a:r>
            <a:r>
              <a:rPr lang="fr-FR" dirty="0" smtClean="0"/>
              <a:t> dynamiques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88</a:t>
            </a:fld>
            <a:endParaRPr lang="fr-FR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8637" y="2115344"/>
            <a:ext cx="8086725" cy="402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@GET, @POST, @PUT, @DELETE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2636528"/>
          </a:xfrm>
        </p:spPr>
        <p:txBody>
          <a:bodyPr/>
          <a:lstStyle/>
          <a:p>
            <a:r>
              <a:rPr lang="fr-FR" dirty="0" smtClean="0"/>
              <a:t>Permettent de mapper une méthode à un type de requête HTTP </a:t>
            </a:r>
          </a:p>
          <a:p>
            <a:r>
              <a:rPr lang="fr-FR" dirty="0" smtClean="0"/>
              <a:t>Ne sont utilisables que sur des méthodes </a:t>
            </a:r>
          </a:p>
          <a:p>
            <a:r>
              <a:rPr lang="fr-FR" dirty="0" smtClean="0"/>
              <a:t>Plusieurs méthodes peuvent avoir le même chemin, le </a:t>
            </a:r>
            <a:r>
              <a:rPr lang="fr-FR" dirty="0" err="1" smtClean="0"/>
              <a:t>mapping</a:t>
            </a:r>
            <a:r>
              <a:rPr lang="fr-FR" dirty="0" smtClean="0"/>
              <a:t> </a:t>
            </a:r>
            <a:r>
              <a:rPr lang="fr-FR" dirty="0" err="1" smtClean="0"/>
              <a:t>uri</a:t>
            </a:r>
            <a:r>
              <a:rPr lang="fr-FR" dirty="0" smtClean="0"/>
              <a:t>/méthode est fait automatiquement par JAX-RS en fonction du type de la requête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89</a:t>
            </a:fld>
            <a:endParaRPr lang="fr-FR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7225" y="4500569"/>
            <a:ext cx="7358114" cy="23574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@GET, @POST, @PUT, @DELETE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1136330"/>
          </a:xfrm>
        </p:spPr>
        <p:txBody>
          <a:bodyPr/>
          <a:lstStyle/>
          <a:p>
            <a:r>
              <a:rPr lang="fr-FR" dirty="0" smtClean="0"/>
              <a:t>Les opérations CRUD sur les ressources sont réalisées au travers des méthodes de la requête HTTP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90</a:t>
            </a:fld>
            <a:endParaRPr lang="fr-FR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8662" y="3071810"/>
            <a:ext cx="7048500" cy="283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Outils de test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Il existe de nombreux outils en ligne permettant de tester les services Web REST </a:t>
            </a:r>
          </a:p>
          <a:p>
            <a:r>
              <a:rPr lang="fr-FR" dirty="0" smtClean="0"/>
              <a:t>Certains sont disponibles sous forme d’extension que vous pouvez installer dans les navigateurs </a:t>
            </a:r>
          </a:p>
          <a:p>
            <a:pPr lvl="1"/>
            <a:r>
              <a:rPr lang="fr-FR" dirty="0" err="1" smtClean="0"/>
              <a:t>RestConsole</a:t>
            </a:r>
            <a:r>
              <a:rPr lang="fr-FR" dirty="0" smtClean="0"/>
              <a:t> </a:t>
            </a:r>
          </a:p>
          <a:p>
            <a:pPr lvl="1"/>
            <a:r>
              <a:rPr lang="fr-FR" dirty="0" err="1" smtClean="0"/>
              <a:t>PostMan</a:t>
            </a:r>
            <a:r>
              <a:rPr lang="fr-FR" dirty="0" smtClean="0"/>
              <a:t>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91</a:t>
            </a:fld>
            <a:endParaRPr lang="fr-FR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Service Web REST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endParaRPr lang="fr-FR" sz="7200" dirty="0" smtClean="0">
              <a:solidFill>
                <a:srgbClr val="FF0000"/>
              </a:solidFill>
            </a:endParaRPr>
          </a:p>
          <a:p>
            <a:pPr algn="ctr">
              <a:buNone/>
            </a:pPr>
            <a:r>
              <a:rPr lang="fr-FR" sz="7200" dirty="0" smtClean="0">
                <a:solidFill>
                  <a:srgbClr val="FF0000"/>
                </a:solidFill>
              </a:rPr>
              <a:t>Application</a:t>
            </a:r>
            <a:endParaRPr lang="fr-FR" sz="7200" dirty="0">
              <a:solidFill>
                <a:srgbClr val="FF0000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92</a:t>
            </a:fld>
            <a:endParaRPr lang="fr-FR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Application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fr-FR" dirty="0" smtClean="0"/>
              <a:t>Créer un service </a:t>
            </a:r>
            <a:r>
              <a:rPr lang="fr-FR" dirty="0" err="1" smtClean="0"/>
              <a:t>Restfull</a:t>
            </a:r>
            <a:r>
              <a:rPr lang="fr-FR" dirty="0" smtClean="0"/>
              <a:t> qui permet de gérer un catalogue de produits appartenant à une </a:t>
            </a:r>
            <a:r>
              <a:rPr lang="fr-FR" dirty="0" err="1" smtClean="0"/>
              <a:t>categorie</a:t>
            </a:r>
            <a:r>
              <a:rPr lang="fr-FR" dirty="0" smtClean="0"/>
              <a:t>.</a:t>
            </a:r>
          </a:p>
          <a:p>
            <a:r>
              <a:rPr lang="fr-FR" dirty="0" smtClean="0"/>
              <a:t>Une catégorie est définie par son identifiant, son nom et sa photo.</a:t>
            </a:r>
          </a:p>
          <a:p>
            <a:r>
              <a:rPr lang="fr-FR" dirty="0" smtClean="0"/>
              <a:t>Un produit appartenant à une catégorie, est défini par son identifiant, sa désignation, son prix et sa photo</a:t>
            </a:r>
          </a:p>
          <a:p>
            <a:r>
              <a:rPr lang="fr-FR" dirty="0" smtClean="0"/>
              <a:t>Le service devrait permettre les opérations suivantes:</a:t>
            </a:r>
          </a:p>
          <a:p>
            <a:pPr lvl="1"/>
            <a:r>
              <a:rPr lang="fr-FR" dirty="0" smtClean="0"/>
              <a:t>Ajouter une nouvelle catégorie</a:t>
            </a:r>
          </a:p>
          <a:p>
            <a:pPr lvl="1"/>
            <a:r>
              <a:rPr lang="fr-FR" dirty="0" smtClean="0"/>
              <a:t>Ajouter un nouveau produit</a:t>
            </a:r>
          </a:p>
          <a:p>
            <a:pPr lvl="1"/>
            <a:r>
              <a:rPr lang="fr-FR" dirty="0" smtClean="0"/>
              <a:t>Consulter toutes les catégories</a:t>
            </a:r>
          </a:p>
          <a:p>
            <a:pPr lvl="1"/>
            <a:r>
              <a:rPr lang="fr-FR" dirty="0" smtClean="0"/>
              <a:t>Consulter les produits d’une catégorie</a:t>
            </a:r>
          </a:p>
          <a:p>
            <a:pPr lvl="1"/>
            <a:r>
              <a:rPr lang="fr-FR" dirty="0" smtClean="0"/>
              <a:t>Consulter une catégorie</a:t>
            </a:r>
          </a:p>
          <a:p>
            <a:pPr lvl="1"/>
            <a:r>
              <a:rPr lang="fr-FR" dirty="0" smtClean="0"/>
              <a:t>Consulter un produit</a:t>
            </a:r>
          </a:p>
          <a:p>
            <a:pPr lvl="1"/>
            <a:r>
              <a:rPr lang="fr-FR" dirty="0" smtClean="0"/>
              <a:t>Consulter les produits dont la désignation contient un mot clé</a:t>
            </a:r>
          </a:p>
          <a:p>
            <a:pPr lvl="1"/>
            <a:r>
              <a:rPr lang="fr-FR" dirty="0" smtClean="0"/>
              <a:t>Mettre à jour un produit</a:t>
            </a:r>
          </a:p>
          <a:p>
            <a:pPr lvl="1"/>
            <a:r>
              <a:rPr lang="fr-FR" dirty="0" smtClean="0"/>
              <a:t>Supprimer un produit</a:t>
            </a:r>
          </a:p>
          <a:p>
            <a:pPr>
              <a:buNone/>
            </a:pPr>
            <a:r>
              <a:rPr lang="fr-FR" dirty="0" smtClean="0">
                <a:solidFill>
                  <a:srgbClr val="FF0000"/>
                </a:solidFill>
              </a:rPr>
              <a:t>L’application Web </a:t>
            </a:r>
            <a:r>
              <a:rPr lang="fr-FR" dirty="0" smtClean="0"/>
              <a:t>se compose de deux couches</a:t>
            </a:r>
          </a:p>
          <a:p>
            <a:r>
              <a:rPr lang="fr-FR" dirty="0" smtClean="0"/>
              <a:t>La couche </a:t>
            </a:r>
            <a:r>
              <a:rPr lang="fr-FR" dirty="0" smtClean="0">
                <a:solidFill>
                  <a:srgbClr val="FF0000"/>
                </a:solidFill>
              </a:rPr>
              <a:t>métier</a:t>
            </a:r>
            <a:r>
              <a:rPr lang="fr-FR" dirty="0" smtClean="0"/>
              <a:t> définie par:</a:t>
            </a:r>
          </a:p>
          <a:p>
            <a:pPr lvl="1"/>
            <a:r>
              <a:rPr lang="fr-FR" dirty="0" smtClean="0"/>
              <a:t>Les entités Catégorie et produit</a:t>
            </a:r>
          </a:p>
          <a:p>
            <a:pPr lvl="1"/>
            <a:r>
              <a:rPr lang="fr-FR" dirty="0" smtClean="0"/>
              <a:t>Une interface </a:t>
            </a:r>
            <a:r>
              <a:rPr lang="fr-FR" dirty="0" err="1" smtClean="0"/>
              <a:t>IcatalogueMetier</a:t>
            </a:r>
            <a:endParaRPr lang="fr-FR" dirty="0" smtClean="0"/>
          </a:p>
          <a:p>
            <a:pPr lvl="1"/>
            <a:r>
              <a:rPr lang="fr-FR" dirty="0" smtClean="0"/>
              <a:t>Une implémentation de cette interface qui suppose que les produits et les catégories sont stockés dans des collections de type </a:t>
            </a:r>
            <a:r>
              <a:rPr lang="fr-FR" dirty="0" err="1" smtClean="0"/>
              <a:t>Hashmap</a:t>
            </a:r>
            <a:endParaRPr lang="fr-FR" dirty="0" smtClean="0"/>
          </a:p>
          <a:p>
            <a:r>
              <a:rPr lang="fr-FR" dirty="0" smtClean="0"/>
              <a:t>La couche</a:t>
            </a:r>
            <a:r>
              <a:rPr lang="fr-FR" dirty="0" smtClean="0">
                <a:solidFill>
                  <a:srgbClr val="FF0000"/>
                </a:solidFill>
              </a:rPr>
              <a:t> service </a:t>
            </a:r>
            <a:r>
              <a:rPr lang="fr-FR" dirty="0" smtClean="0"/>
              <a:t>représentée par un service </a:t>
            </a:r>
            <a:r>
              <a:rPr lang="fr-FR" dirty="0" err="1" smtClean="0"/>
              <a:t>Restful</a:t>
            </a:r>
            <a:r>
              <a:rPr lang="fr-FR" dirty="0" smtClean="0"/>
              <a:t> basée sur jersey et </a:t>
            </a:r>
            <a:r>
              <a:rPr lang="fr-FR" dirty="0" err="1" smtClean="0"/>
              <a:t>Tomcat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93</a:t>
            </a:fld>
            <a:endParaRPr lang="fr-FR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Application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51C9-77A7-4A8E-946A-40AABA4923F9}" type="slidenum">
              <a:rPr lang="fr-FR" smtClean="0"/>
              <a:pPr/>
              <a:t>94</a:t>
            </a:fld>
            <a:endParaRPr lang="fr-FR"/>
          </a:p>
        </p:txBody>
      </p:sp>
      <p:pic>
        <p:nvPicPr>
          <p:cNvPr id="12185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7224" y="2143116"/>
            <a:ext cx="7643866" cy="43577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ébit">
  <a:themeElements>
    <a:clrScheme name="Débit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Débit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Débit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14063</TotalTime>
  <Words>3986</Words>
  <Application>Microsoft Office PowerPoint</Application>
  <PresentationFormat>Affichage à l'écran (4:3)</PresentationFormat>
  <Paragraphs>539</Paragraphs>
  <Slides>94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94</vt:i4>
      </vt:variant>
    </vt:vector>
  </HeadingPairs>
  <TitlesOfParts>
    <vt:vector size="95" baseType="lpstr">
      <vt:lpstr>Débit</vt:lpstr>
      <vt:lpstr>Support de cours SOA Service Oriented Architecture</vt:lpstr>
      <vt:lpstr>Objectifs du cours</vt:lpstr>
      <vt:lpstr>Plan du cours</vt:lpstr>
      <vt:lpstr>Chapitre 1  Le concept Service </vt:lpstr>
      <vt:lpstr>Evolution des paradigmes de développement </vt:lpstr>
      <vt:lpstr>Diapositive 6</vt:lpstr>
      <vt:lpstr>Concept Service</vt:lpstr>
      <vt:lpstr>Définition du Service</vt:lpstr>
      <vt:lpstr>Orchestration des services</vt:lpstr>
      <vt:lpstr>Orchestration des services</vt:lpstr>
      <vt:lpstr>Propriétés des services</vt:lpstr>
      <vt:lpstr>Réutilisabilité par contrat </vt:lpstr>
      <vt:lpstr>Interface adressable et communication par message </vt:lpstr>
      <vt:lpstr>Abstraction et Prédictibilité </vt:lpstr>
      <vt:lpstr>Large granularité et modularité </vt:lpstr>
      <vt:lpstr>Autonomie et statelessness</vt:lpstr>
      <vt:lpstr>Interopérabilité </vt:lpstr>
      <vt:lpstr>Couplage faible (lâche)</vt:lpstr>
      <vt:lpstr>Découvrabilité</vt:lpstr>
      <vt:lpstr>Composabilité</vt:lpstr>
      <vt:lpstr>Chapitre 2            Architecture SOA</vt:lpstr>
      <vt:lpstr>SOA: Motivation et enjeux</vt:lpstr>
      <vt:lpstr>SOA: Motivation et enjeux</vt:lpstr>
      <vt:lpstr>SOA: Motivation et enjeux</vt:lpstr>
      <vt:lpstr>La solution avec l’SOA</vt:lpstr>
      <vt:lpstr>Pourquoi une architecture SOA?</vt:lpstr>
      <vt:lpstr>Introduction aux Web Services</vt:lpstr>
      <vt:lpstr>Le protocole HTTP</vt:lpstr>
      <vt:lpstr>Connexion</vt:lpstr>
      <vt:lpstr>Méthodes du protocole HTTP</vt:lpstr>
      <vt:lpstr>     Le client envoie la requête: méthode POST </vt:lpstr>
      <vt:lpstr>Le client envoie la requête: méthode GET </vt:lpstr>
      <vt:lpstr>Le serveur envoie la réponse</vt:lpstr>
      <vt:lpstr>L’idée des Web Services</vt:lpstr>
      <vt:lpstr>Requête SOAP avec Post</vt:lpstr>
      <vt:lpstr>Réponse SOAP</vt:lpstr>
      <vt:lpstr>Concepts des Web Services</vt:lpstr>
      <vt:lpstr>Cycle de vie d’utilisation</vt:lpstr>
      <vt:lpstr>SOAP</vt:lpstr>
      <vt:lpstr>SOAP</vt:lpstr>
      <vt:lpstr>Structure d’un message SOAP</vt:lpstr>
      <vt:lpstr>Structure d’un message SOAP</vt:lpstr>
      <vt:lpstr>Mise en œuvre des Services Web avec JAX-WS</vt:lpstr>
      <vt:lpstr>JAX-WS</vt:lpstr>
      <vt:lpstr>JAX-WS</vt:lpstr>
      <vt:lpstr>JAX-WS/JAXB</vt:lpstr>
      <vt:lpstr>Principes de JAXB</vt:lpstr>
      <vt:lpstr>Générer XML à partir des objets java avec JAXB </vt:lpstr>
      <vt:lpstr>Générer des objets java à partir des documents XML</vt:lpstr>
      <vt:lpstr>Générer un schéma XML à partir d’une classe avec JAXB</vt:lpstr>
      <vt:lpstr>Génération des classes à partir d’un schéma XML</vt:lpstr>
      <vt:lpstr>Classes générées par xjc</vt:lpstr>
      <vt:lpstr>Quelques annotations JAXB</vt:lpstr>
      <vt:lpstr>Comment développer un Web service JAX-WS</vt:lpstr>
      <vt:lpstr>Application</vt:lpstr>
      <vt:lpstr>Application</vt:lpstr>
      <vt:lpstr>Application</vt:lpstr>
      <vt:lpstr>Web Service Rest</vt:lpstr>
      <vt:lpstr>Web Service Rest</vt:lpstr>
      <vt:lpstr>Rest: fournisseurs</vt:lpstr>
      <vt:lpstr>Rest: statistiques</vt:lpstr>
      <vt:lpstr>Rest: caractéristiques</vt:lpstr>
      <vt:lpstr>Rquêtes REST</vt:lpstr>
      <vt:lpstr>Ressource</vt:lpstr>
      <vt:lpstr>Les méthodes</vt:lpstr>
      <vt:lpstr>Méthode GET</vt:lpstr>
      <vt:lpstr>Méthode POST</vt:lpstr>
      <vt:lpstr>Méthode DELETE</vt:lpstr>
      <vt:lpstr>Méthode PUT</vt:lpstr>
      <vt:lpstr>Reflexion</vt:lpstr>
      <vt:lpstr>Représentation</vt:lpstr>
      <vt:lpstr>WADL</vt:lpstr>
      <vt:lpstr>RESTful</vt:lpstr>
      <vt:lpstr>Règles de Restful</vt:lpstr>
      <vt:lpstr>JSON</vt:lpstr>
      <vt:lpstr>JSON</vt:lpstr>
      <vt:lpstr>JSON</vt:lpstr>
      <vt:lpstr>JSON</vt:lpstr>
      <vt:lpstr>Développer des Web Services REST avec JAVA </vt:lpstr>
      <vt:lpstr>JAX-RS </vt:lpstr>
      <vt:lpstr>JAX-RS Implémentation</vt:lpstr>
      <vt:lpstr>JERSEY</vt:lpstr>
      <vt:lpstr>JAX-RS : Développement </vt:lpstr>
      <vt:lpstr>Annotation JAX-RS </vt:lpstr>
      <vt:lpstr>Modéliser les URIs</vt:lpstr>
      <vt:lpstr>URIs des méthodes </vt:lpstr>
      <vt:lpstr>URIs dynamiques </vt:lpstr>
      <vt:lpstr>URIs dynamiques </vt:lpstr>
      <vt:lpstr>@GET, @POST, @PUT, @DELETE</vt:lpstr>
      <vt:lpstr>@GET, @POST, @PUT, @DELETE </vt:lpstr>
      <vt:lpstr>Outils de test </vt:lpstr>
      <vt:lpstr>Service Web REST</vt:lpstr>
      <vt:lpstr>Application</vt:lpstr>
      <vt:lpstr>Application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Support de cours SOA Service Oriented Architecture</dc:title>
  <dc:creator>donia</dc:creator>
  <cp:lastModifiedBy>Dell</cp:lastModifiedBy>
  <cp:revision>80</cp:revision>
  <dcterms:created xsi:type="dcterms:W3CDTF">2020-10-02T09:10:37Z</dcterms:created>
  <dcterms:modified xsi:type="dcterms:W3CDTF">2024-10-24T08:27:56Z</dcterms:modified>
</cp:coreProperties>
</file>